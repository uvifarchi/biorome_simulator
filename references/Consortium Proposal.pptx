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Black"/>
      <p:bold r:id="rId17"/>
      <p:boldItalic r:id="rId18"/>
    </p:embeddedFont>
    <p:embeddedFont>
      <p:font typeface="Lexend"/>
      <p:regular r:id="rId19"/>
      <p:bold r:id="rId20"/>
    </p:embeddedFont>
    <p:embeddedFont>
      <p:font typeface="Roboto Mono"/>
      <p:regular r:id="rId21"/>
      <p:bold r:id="rId22"/>
      <p:italic r:id="rId23"/>
      <p:boldItalic r:id="rId24"/>
    </p:embeddedFont>
    <p:embeddedFont>
      <p:font typeface="Lexend Black"/>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AB3181-70D0-4E56-9AF5-58D00A85E7A4}">
  <a:tblStyle styleId="{C1AB3181-70D0-4E56-9AF5-58D00A85E7A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exend-bold.fntdata"/><Relationship Id="rId22" Type="http://schemas.openxmlformats.org/officeDocument/2006/relationships/font" Target="fonts/RobotoMono-bold.fntdata"/><Relationship Id="rId21" Type="http://schemas.openxmlformats.org/officeDocument/2006/relationships/font" Target="fonts/RobotoMono-regular.fntdata"/><Relationship Id="rId24" Type="http://schemas.openxmlformats.org/officeDocument/2006/relationships/font" Target="fonts/RobotoMono-boldItalic.fntdata"/><Relationship Id="rId23"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exendBlac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lack-bold.fntdata"/><Relationship Id="rId16" Type="http://schemas.openxmlformats.org/officeDocument/2006/relationships/slide" Target="slides/slide11.xml"/><Relationship Id="rId19" Type="http://schemas.openxmlformats.org/officeDocument/2006/relationships/font" Target="fonts/Lexend-regular.fntdata"/><Relationship Id="rId18" Type="http://schemas.openxmlformats.org/officeDocument/2006/relationships/font" Target="fonts/RalewayBlack-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65679642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65679642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The ACES Consortium exists to co-develop a common standard for the physical interoperability of modular drones, robots, and IoT devices. The protocol we are working on is called ACES—Appliance Communications and Execution Standard.</a:t>
            </a:r>
            <a:endParaRPr/>
          </a:p>
          <a:p>
            <a:pPr indent="0" lvl="0" marL="0" rtl="0" algn="l">
              <a:lnSpc>
                <a:spcPct val="115000"/>
              </a:lnSpc>
              <a:spcBef>
                <a:spcPts val="1200"/>
              </a:spcBef>
              <a:spcAft>
                <a:spcPts val="0"/>
              </a:spcAft>
              <a:buClr>
                <a:schemeClr val="dk1"/>
              </a:buClr>
              <a:buSzPts val="1100"/>
              <a:buFont typeface="Arial"/>
              <a:buNone/>
            </a:pPr>
            <a:r>
              <a:rPr lang="en-GB"/>
              <a:t>Our mission is to ensure that equipment from different manufacturers can be combined and deployed seamlessly in real-world environments. The initial focus is on agriculture, smart cities, and industry, but the ambition is broader: to establish a universal hardware language for modular systems.</a:t>
            </a:r>
            <a:endParaRPr/>
          </a:p>
          <a:p>
            <a:pPr indent="0" lvl="0" marL="0" rtl="0" algn="l">
              <a:lnSpc>
                <a:spcPct val="115000"/>
              </a:lnSpc>
              <a:spcBef>
                <a:spcPts val="1200"/>
              </a:spcBef>
              <a:spcAft>
                <a:spcPts val="0"/>
              </a:spcAft>
              <a:buClr>
                <a:schemeClr val="dk1"/>
              </a:buClr>
              <a:buSzPts val="1100"/>
              <a:buFont typeface="Arial"/>
              <a:buNone/>
            </a:pPr>
            <a:r>
              <a:rPr lang="en-GB"/>
              <a:t>With the technical work underway, we now face key questions that will shape the future of ACES. What structure should we adopt to manage it? What strategy will best position it for adoption? And how will value be created and shared among consortium partners?</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56796427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56796427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We have two possible strategic paths.</a:t>
            </a:r>
            <a:endParaRPr/>
          </a:p>
          <a:p>
            <a:pPr indent="0" lvl="0" marL="0" rtl="0" algn="l">
              <a:lnSpc>
                <a:spcPct val="115000"/>
              </a:lnSpc>
              <a:spcBef>
                <a:spcPts val="1200"/>
              </a:spcBef>
              <a:spcAft>
                <a:spcPts val="0"/>
              </a:spcAft>
              <a:buClr>
                <a:schemeClr val="dk1"/>
              </a:buClr>
              <a:buSzPts val="1100"/>
              <a:buFont typeface="Arial"/>
              <a:buNone/>
            </a:pPr>
            <a:r>
              <a:rPr lang="en-GB"/>
              <a:t>On one side is “Modular Dynamics,” a proprietary consortium company. This structure gives us direct control of ACES as intellectual property. It allows the consortium to generate revenue directly from module sales and professional services, while ensuring exclusivity and tight governance.</a:t>
            </a:r>
            <a:endParaRPr/>
          </a:p>
          <a:p>
            <a:pPr indent="0" lvl="0" marL="0" rtl="0" algn="l">
              <a:lnSpc>
                <a:spcPct val="115000"/>
              </a:lnSpc>
              <a:spcBef>
                <a:spcPts val="1200"/>
              </a:spcBef>
              <a:spcAft>
                <a:spcPts val="0"/>
              </a:spcAft>
              <a:buClr>
                <a:schemeClr val="dk1"/>
              </a:buClr>
              <a:buSzPts val="1100"/>
              <a:buFont typeface="Arial"/>
              <a:buNone/>
            </a:pPr>
            <a:r>
              <a:rPr lang="en-GB"/>
              <a:t>On the other side is the “ACES Foundation,” a non-profit structure. Here, the protocol itself is open and royalty-free, encouraging the broadest possible adoption. Members then capture value indirectly through sales of their own ACES-compliant products and services.</a:t>
            </a:r>
            <a:endParaRPr/>
          </a:p>
          <a:p>
            <a:pPr indent="0" lvl="0" marL="0" rtl="0" algn="l">
              <a:lnSpc>
                <a:spcPct val="115000"/>
              </a:lnSpc>
              <a:spcBef>
                <a:spcPts val="1200"/>
              </a:spcBef>
              <a:spcAft>
                <a:spcPts val="0"/>
              </a:spcAft>
              <a:buClr>
                <a:schemeClr val="dk1"/>
              </a:buClr>
              <a:buSzPts val="1100"/>
              <a:buFont typeface="Arial"/>
              <a:buNone/>
            </a:pPr>
            <a:r>
              <a:rPr lang="en-GB"/>
              <a:t>Despite these differences, both models share the same foundation: our joint mission to make ACES the standard for interoperability, focused on agriculture, smart cities, and industry. In both cases, this consortium remains the driving force behind development and governance.</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d8675282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d8675282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In the Modular Dynamics model, we create a new for-profit consortium company—likely a GmbH or Ltd.—co-owned by our partners. Shares would be held in proportion to financial or in-kind contributions, and governance managed by a board representing those shareholders.</a:t>
            </a:r>
            <a:endParaRPr/>
          </a:p>
          <a:p>
            <a:pPr indent="0" lvl="0" marL="0" rtl="0" algn="l">
              <a:lnSpc>
                <a:spcPct val="115000"/>
              </a:lnSpc>
              <a:spcBef>
                <a:spcPts val="1200"/>
              </a:spcBef>
              <a:spcAft>
                <a:spcPts val="0"/>
              </a:spcAft>
              <a:buClr>
                <a:schemeClr val="dk1"/>
              </a:buClr>
              <a:buSzPts val="1100"/>
              <a:buFont typeface="Arial"/>
              <a:buNone/>
            </a:pPr>
            <a:r>
              <a:rPr lang="en-GB"/>
              <a:t>The company would own the ACES protocol outright. All intellectual property—specifications, connectors, software libraries—would be under proprietary control. Third parties wanting to use ACES would need a license from Modular Dynamics.</a:t>
            </a:r>
            <a:endParaRPr/>
          </a:p>
          <a:p>
            <a:pPr indent="0" lvl="0" marL="0" rtl="0" algn="l">
              <a:lnSpc>
                <a:spcPct val="115000"/>
              </a:lnSpc>
              <a:spcBef>
                <a:spcPts val="1200"/>
              </a:spcBef>
              <a:spcAft>
                <a:spcPts val="0"/>
              </a:spcAft>
              <a:buClr>
                <a:schemeClr val="dk1"/>
              </a:buClr>
              <a:buSzPts val="1100"/>
              <a:buFont typeface="Arial"/>
              <a:buNone/>
            </a:pPr>
            <a:r>
              <a:rPr lang="en-GB"/>
              <a:t>At first, we would not build factories. Instead, we would adapt off-the-shelf drones, robots, and IoT equipment into ACES-compliant modules. This keeps capital needs limited while generating revenue from integration and services. If adoption scales, we could then consider dedicated production facilities to improve efficiency and margins, though that would require larger investment.</a:t>
            </a:r>
            <a:endParaRPr/>
          </a:p>
          <a:p>
            <a:pPr indent="0" lvl="0" marL="0" rtl="0" algn="l">
              <a:lnSpc>
                <a:spcPct val="115000"/>
              </a:lnSpc>
              <a:spcBef>
                <a:spcPts val="1200"/>
              </a:spcBef>
              <a:spcAft>
                <a:spcPts val="0"/>
              </a:spcAft>
              <a:buClr>
                <a:schemeClr val="dk1"/>
              </a:buClr>
              <a:buSzPts val="1100"/>
              <a:buFont typeface="Arial"/>
              <a:buNone/>
            </a:pPr>
            <a:r>
              <a:rPr lang="en-GB"/>
              <a:t>Revenue streams would come from three areas: sales of ACES-compatible modules, professional services such as integration and maintenance, and licensing fees or royalties for third-party use.</a:t>
            </a:r>
            <a:endParaRPr/>
          </a:p>
          <a:p>
            <a:pPr indent="0" lvl="0" marL="0" rtl="0" algn="l">
              <a:lnSpc>
                <a:spcPct val="115000"/>
              </a:lnSpc>
              <a:spcBef>
                <a:spcPts val="1200"/>
              </a:spcBef>
              <a:spcAft>
                <a:spcPts val="0"/>
              </a:spcAft>
              <a:buClr>
                <a:schemeClr val="dk1"/>
              </a:buClr>
              <a:buSzPts val="1100"/>
              <a:buFont typeface="Arial"/>
              <a:buNone/>
            </a:pPr>
            <a:r>
              <a:rPr lang="en-GB"/>
              <a:t>The main advantage of this model is control. The consortium captures value directly, ensures quality through centralized ownership, and creates exclusivity for its members. The trade-offs are slower adoption, potential concerns about vendor lock-in, and eventually higher capital requirements if we expand into manufacturing.</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d8675282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7d8675282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In this model, we would create a for-profit consortium company—Modular Dynamics—that owns ACES as intellectual property. The company would be co-owned by consortium members, with governance tied to shareholding.</a:t>
            </a:r>
            <a:endParaRPr/>
          </a:p>
          <a:p>
            <a:pPr indent="0" lvl="0" marL="0" rtl="0" algn="l">
              <a:lnSpc>
                <a:spcPct val="115000"/>
              </a:lnSpc>
              <a:spcBef>
                <a:spcPts val="1200"/>
              </a:spcBef>
              <a:spcAft>
                <a:spcPts val="0"/>
              </a:spcAft>
              <a:buClr>
                <a:schemeClr val="dk1"/>
              </a:buClr>
              <a:buSzPts val="1100"/>
              <a:buFont typeface="Arial"/>
              <a:buNone/>
            </a:pPr>
            <a:r>
              <a:rPr lang="en-GB"/>
              <a:t>Revenues would come from selling ACES-compatible hardware modules, providing services such as integration and maintenance, and licensing the protocol to third parties. The main benefit is tight control: the consortium captures value directly and ensures exclusivity for its members.</a:t>
            </a:r>
            <a:endParaRPr/>
          </a:p>
          <a:p>
            <a:pPr indent="0" lvl="0" marL="0" rtl="0" algn="l">
              <a:lnSpc>
                <a:spcPct val="115000"/>
              </a:lnSpc>
              <a:spcBef>
                <a:spcPts val="1200"/>
              </a:spcBef>
              <a:spcAft>
                <a:spcPts val="0"/>
              </a:spcAft>
              <a:buClr>
                <a:schemeClr val="dk1"/>
              </a:buClr>
              <a:buSzPts val="1100"/>
              <a:buFont typeface="Arial"/>
              <a:buNone/>
            </a:pPr>
            <a:r>
              <a:rPr lang="en-GB"/>
              <a:t>But there are risks. Because ACES would be proprietary, adoption outside the consortium could be slower. Potential customers and partners may worry about vendor lock-in. And the pace of innovation would depend heavily on us alone, without the contributions that an open community might bring.</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dd46166b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dd46166b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In the Modular Dynamics model, we create a new for-profit consortium company—likely a GmbH or Ltd.—co-owned by our partners. Shares would be held in proportion to financial or in-kind contributions, and governance managed by a board representing those shareholders.</a:t>
            </a:r>
            <a:endParaRPr/>
          </a:p>
          <a:p>
            <a:pPr indent="0" lvl="0" marL="0" rtl="0" algn="l">
              <a:lnSpc>
                <a:spcPct val="115000"/>
              </a:lnSpc>
              <a:spcBef>
                <a:spcPts val="1200"/>
              </a:spcBef>
              <a:spcAft>
                <a:spcPts val="0"/>
              </a:spcAft>
              <a:buClr>
                <a:schemeClr val="dk1"/>
              </a:buClr>
              <a:buSzPts val="1100"/>
              <a:buFont typeface="Arial"/>
              <a:buNone/>
            </a:pPr>
            <a:r>
              <a:rPr lang="en-GB"/>
              <a:t>The company would own the ACES protocol outright. All intellectual property—specifications, connectors, software libraries—would be under proprietary control. Third parties wanting to use ACES would need a license from Modular Dynamics.</a:t>
            </a:r>
            <a:endParaRPr/>
          </a:p>
          <a:p>
            <a:pPr indent="0" lvl="0" marL="0" rtl="0" algn="l">
              <a:lnSpc>
                <a:spcPct val="115000"/>
              </a:lnSpc>
              <a:spcBef>
                <a:spcPts val="1200"/>
              </a:spcBef>
              <a:spcAft>
                <a:spcPts val="0"/>
              </a:spcAft>
              <a:buClr>
                <a:schemeClr val="dk1"/>
              </a:buClr>
              <a:buSzPts val="1100"/>
              <a:buFont typeface="Arial"/>
              <a:buNone/>
            </a:pPr>
            <a:r>
              <a:rPr lang="en-GB"/>
              <a:t>At first, we would not build factories. Instead, we would adapt off-the-shelf drones, robots, and IoT equipment into ACES-compliant modules. This keeps capital needs limited while generating revenue from integration and services. If adoption scales, we could then consider dedicated production facilities to improve efficiency and margins, though that would require larger investment.</a:t>
            </a:r>
            <a:endParaRPr/>
          </a:p>
          <a:p>
            <a:pPr indent="0" lvl="0" marL="0" rtl="0" algn="l">
              <a:lnSpc>
                <a:spcPct val="115000"/>
              </a:lnSpc>
              <a:spcBef>
                <a:spcPts val="1200"/>
              </a:spcBef>
              <a:spcAft>
                <a:spcPts val="0"/>
              </a:spcAft>
              <a:buClr>
                <a:schemeClr val="dk1"/>
              </a:buClr>
              <a:buSzPts val="1100"/>
              <a:buFont typeface="Arial"/>
              <a:buNone/>
            </a:pPr>
            <a:r>
              <a:rPr lang="en-GB"/>
              <a:t>Revenue streams would come from three areas: sales of ACES-compatible modules, professional services such as integration and maintenance, and licensing fees or royalties for third-party use.</a:t>
            </a:r>
            <a:endParaRPr/>
          </a:p>
          <a:p>
            <a:pPr indent="0" lvl="0" marL="0" rtl="0" algn="l">
              <a:lnSpc>
                <a:spcPct val="115000"/>
              </a:lnSpc>
              <a:spcBef>
                <a:spcPts val="1200"/>
              </a:spcBef>
              <a:spcAft>
                <a:spcPts val="0"/>
              </a:spcAft>
              <a:buClr>
                <a:schemeClr val="dk1"/>
              </a:buClr>
              <a:buSzPts val="1100"/>
              <a:buFont typeface="Arial"/>
              <a:buNone/>
            </a:pPr>
            <a:r>
              <a:rPr lang="en-GB"/>
              <a:t>The main advantage of this model is control. The consortium captures value directly, ensures quality through centralized ownership, and creates exclusivity for its members. The trade-offs are slower adoption, potential concerns about vendor lock-in, and eventually higher capital requirements if we expand into manufacturing.</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d8675282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7d8675282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Let’s look at three examples of open foundation models from Europe.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KNX Association</a:t>
            </a:r>
            <a:r>
              <a:rPr lang="en-GB">
                <a:solidFill>
                  <a:schemeClr val="dk1"/>
                </a:solidFill>
              </a:rPr>
              <a:t> is a textbook success story. Formed in Belgium in 1999, it brought together competing proprietary building automation systems under one roof. As a non-profit cooperative, KNX made its standard royalty-free, vendor-neutral, and submitted it to European and international standards bodies. The result has been extraordinary: today, more than 500 manufacturers build KNX-compatible products, and there are over 100,000 certified installers in 172 countries. KNX shows how an open governance model can sustain global adoption for decades and create a self-reinforcing ecosystem.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LF Edge</a:t>
            </a:r>
            <a:r>
              <a:rPr lang="en-GB">
                <a:solidFill>
                  <a:schemeClr val="dk1"/>
                </a:solidFill>
              </a:rPr>
              <a:t>, on the other hand, illustrates some of the challenges. Launched in 2019 under the Linux Foundation, it set out to unify fragmented open-source edge computing projects. On paper, it had impressive backing—Intel, Samsung, Ericsson, Nokia, Arm, and many others. In practice, governance became complicated, with many big vendors pulling in different directions. Contributions were heavily concentrated in just a few companies, while most members offered their names but little code. Adoption was uneven too: one project, EdgeX Foundry, saw some uptake, but others lagged. The overall initiative never became the de facto standard for edge computing; cloud hyperscalers and proprietary frameworks kept the upper hand. LF Edge shows that even an open foundation with strong corporate support can struggle if governance is complex, contributions are shallow, and adoption lags behind closed competitors.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a:t>
            </a:r>
            <a:r>
              <a:rPr b="1" lang="en-GB">
                <a:solidFill>
                  <a:schemeClr val="dk1"/>
                </a:solidFill>
              </a:rPr>
              <a:t>FIWARE Foundation</a:t>
            </a:r>
            <a:r>
              <a:rPr lang="en-GB">
                <a:solidFill>
                  <a:schemeClr val="dk1"/>
                </a:solidFill>
              </a:rPr>
              <a:t> represents a case that is gaining strong traction. Established in Germany in 2016, FIWARE provides open APIs and Smart Data Models for IoT and smart cities, with its NGSI-LD API becoming an ETSI standard. Adoption has grown steadily, and today more than 350 cities around the world use FIWARE. The foundation has cultivated a large developer community and secured EU support, helping it expand into domains like agriculture and industry. FIWARE demonstrates how an open software foundation, with strong community backing and public-sector alignment, can achieve rapid adoption and become a credible standard across multiple sectors.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Together, these examples show the spectrum of outcomes possible under the open foundation model—from sustained global dominance, to partial impact with challenges, to active growth in progress.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d8675282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7d8675282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Speaker Notes:</a:t>
            </a:r>
            <a:br>
              <a:rPr b="1" lang="en-GB">
                <a:solidFill>
                  <a:schemeClr val="dk1"/>
                </a:solidFill>
              </a:rPr>
            </a:br>
            <a:r>
              <a:rPr lang="en-GB">
                <a:solidFill>
                  <a:schemeClr val="dk1"/>
                </a:solidFill>
              </a:rPr>
              <a:t> FIWARE already provides the open standard for software interoperability. It manages how data flows between devices and applications, with NGSI-LD as an ETSI-recognized API. This is deployed in hundreds of cities and spreading into agriculture and industry.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ACES is complementary, because it would cover the hardware interoperability layer. That means plug-and-play modules—drones, robots, sensors—that can physically work together, regardless of manufacturer.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question is how we leverage FIWARE under the two models we are considering.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we take the proprietary route and create Modular Dynamics, we can still adopt FIWARE’s open-source components as the software layer, because FIWARE is free to use. We could also join the FIWARE Foundation as a company, gaining influence and visibility, while keeping ACES itself proprietary.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we take the open route and establish the ACES Foundation, then we could go further. We could form a formal partnership between ACES Foundation and FIWARE Foundation, aligning hardware and software standards under a common open governance framework. That would create a stronger ecosystem and could attract more public-sector support.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in both cases, FIWARE is a tool we can build on. The difference is whether we use it tactically, as part of a proprietary stack, or strategically, as part of a larger open-standard alliance.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d8675282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7d8675282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have reached a fork in the road. The proprietary route gives us direct control and revenue, but comes with higher investment and slower adoption. The open route trades exclusivity for scale, positioning ACES as a universal standard while members capture value through their own products and services. In both cases, FIWARE can be leveraged—the difference is whether we use it tactically or partner strategically.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7d8675282e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7d8675282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Here is what each option means in practical terms for us as consortium members.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the </a:t>
            </a:r>
            <a:r>
              <a:rPr b="1" lang="en-GB">
                <a:solidFill>
                  <a:schemeClr val="dk1"/>
                </a:solidFill>
              </a:rPr>
              <a:t>drone maker</a:t>
            </a:r>
            <a:r>
              <a:rPr lang="en-GB">
                <a:solidFill>
                  <a:schemeClr val="dk1"/>
                </a:solidFill>
              </a:rPr>
              <a:t>, Modular Dynamics offers direct revenue and exclusive integration opportunities, but the open foundation expands the market for drones by making them interoperable in many more deployments.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the </a:t>
            </a:r>
            <a:r>
              <a:rPr b="1" lang="en-GB">
                <a:solidFill>
                  <a:schemeClr val="dk1"/>
                </a:solidFill>
              </a:rPr>
              <a:t>smart city developer</a:t>
            </a:r>
            <a:r>
              <a:rPr lang="en-GB">
                <a:solidFill>
                  <a:schemeClr val="dk1"/>
                </a:solidFill>
              </a:rPr>
              <a:t>, the proprietary route means having exclusive access to modules and the ability to lock in city contracts. But in reality, municipalities often prefer open standards, so the foundation model may make adoption smoother and projects easier to win.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the </a:t>
            </a:r>
            <a:r>
              <a:rPr b="1" lang="en-GB">
                <a:solidFill>
                  <a:schemeClr val="dk1"/>
                </a:solidFill>
              </a:rPr>
              <a:t>IoT integrator</a:t>
            </a:r>
            <a:r>
              <a:rPr lang="en-GB">
                <a:solidFill>
                  <a:schemeClr val="dk1"/>
                </a:solidFill>
              </a:rPr>
              <a:t>, the proprietary model would grant preferred status and higher margins, but it limits the market to ACES licensees. The open model creates a much larger market of adopters, meaning more projects to integrate.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the </a:t>
            </a:r>
            <a:r>
              <a:rPr b="1" lang="en-GB">
                <a:solidFill>
                  <a:schemeClr val="dk1"/>
                </a:solidFill>
              </a:rPr>
              <a:t>farm robot builder</a:t>
            </a:r>
            <a:r>
              <a:rPr lang="en-GB">
                <a:solidFill>
                  <a:schemeClr val="dk1"/>
                </a:solidFill>
              </a:rPr>
              <a:t>, Modular Dynamics offers bundling advantages—robots packaged with ACES modules as a closed system. But the foundation route allows broader interoperability with tractors, sensors, and equipment from others, expanding the total market for ACES-compliant robots.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the impact is clear: the proprietary model concentrates control and revenue, while the open model expands the ecosystem and project opportunities.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7d8675282e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7d8675282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We have a clear mission: to make ACES the interoperability standard for modular drones, robots, and IoT devices.</a:t>
            </a:r>
            <a:endParaRPr/>
          </a:p>
          <a:p>
            <a:pPr indent="0" lvl="0" marL="0" rtl="0" algn="l">
              <a:lnSpc>
                <a:spcPct val="115000"/>
              </a:lnSpc>
              <a:spcBef>
                <a:spcPts val="1200"/>
              </a:spcBef>
              <a:spcAft>
                <a:spcPts val="0"/>
              </a:spcAft>
              <a:buClr>
                <a:schemeClr val="dk1"/>
              </a:buClr>
              <a:buSzPts val="1100"/>
              <a:buFont typeface="Arial"/>
              <a:buNone/>
            </a:pPr>
            <a:r>
              <a:rPr lang="en-GB"/>
              <a:t>The next step is to align on which organizational model we will pursue. Modular Dynamics gives us direct control and monetization, while the ACES Foundation gives us scale and broad adoption. Both are viable, but the choice will shape our structure, our strategy, and our investment path.</a:t>
            </a:r>
            <a:endParaRPr/>
          </a:p>
          <a:p>
            <a:pPr indent="0" lvl="0" marL="0" rtl="0" algn="l">
              <a:lnSpc>
                <a:spcPct val="115000"/>
              </a:lnSpc>
              <a:spcBef>
                <a:spcPts val="1200"/>
              </a:spcBef>
              <a:spcAft>
                <a:spcPts val="0"/>
              </a:spcAft>
              <a:buClr>
                <a:schemeClr val="dk1"/>
              </a:buClr>
              <a:buSzPts val="1100"/>
              <a:buFont typeface="Arial"/>
              <a:buNone/>
            </a:pPr>
            <a:r>
              <a:rPr lang="en-GB"/>
              <a:t>In either model, FIWARE can play a valuable role in the software layer. We should decide whether we simply adopt it as a component or pursue a formal partnership.</a:t>
            </a:r>
            <a:endParaRPr/>
          </a:p>
          <a:p>
            <a:pPr indent="0" lvl="0" marL="0" rtl="0" algn="l">
              <a:lnSpc>
                <a:spcPct val="115000"/>
              </a:lnSpc>
              <a:spcBef>
                <a:spcPts val="1200"/>
              </a:spcBef>
              <a:spcAft>
                <a:spcPts val="0"/>
              </a:spcAft>
              <a:buClr>
                <a:schemeClr val="dk1"/>
              </a:buClr>
              <a:buSzPts val="1100"/>
              <a:buFont typeface="Arial"/>
              <a:buNone/>
            </a:pPr>
            <a:r>
              <a:rPr lang="en-GB"/>
              <a:t>Once we have chosen the model, we can define governance, investment levels, and value-sharing principles for partners, and then move toward a joint roadmap and a memorandum of understanding.</a:t>
            </a:r>
            <a:endParaRPr/>
          </a:p>
          <a:p>
            <a:pPr indent="0" lvl="0" marL="0" rtl="0" algn="l">
              <a:lnSpc>
                <a:spcPct val="115000"/>
              </a:lnSpc>
              <a:spcBef>
                <a:spcPts val="1200"/>
              </a:spcBef>
              <a:spcAft>
                <a:spcPts val="0"/>
              </a:spcAft>
              <a:buClr>
                <a:schemeClr val="dk1"/>
              </a:buClr>
              <a:buSzPts val="1100"/>
              <a:buFont typeface="Arial"/>
              <a:buNone/>
            </a:pPr>
            <a:r>
              <a:rPr lang="en-GB"/>
              <a:t>This will give us the clarity and structure needed to present ACES to external stakeholders and move the project forward with confidence.</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155400"/>
            <a:ext cx="8520600" cy="714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3800">
                <a:latin typeface="Lexend Black"/>
                <a:ea typeface="Lexend Black"/>
                <a:cs typeface="Lexend Black"/>
                <a:sym typeface="Lexend Blac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0" y="0"/>
            <a:ext cx="9144000" cy="572700"/>
          </a:xfrm>
          <a:prstGeom prst="rect">
            <a:avLst/>
          </a:prstGeom>
        </p:spPr>
        <p:txBody>
          <a:bodyPr anchorCtr="0" anchor="t" bIns="91425" lIns="91425" spcFirstLastPara="1" rIns="91425" wrap="square" tIns="91425">
            <a:normAutofit/>
          </a:bodyPr>
          <a:lstStyle>
            <a:lvl1pPr lvl="0" algn="ctr">
              <a:spcBef>
                <a:spcPts val="0"/>
              </a:spcBef>
              <a:spcAft>
                <a:spcPts val="0"/>
              </a:spcAft>
              <a:buSzPts val="2800"/>
              <a:buNone/>
              <a:defRPr sz="3020">
                <a:latin typeface="Raleway Black"/>
                <a:ea typeface="Raleway Black"/>
                <a:cs typeface="Raleway Black"/>
                <a:sym typeface="Raleway Blac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0"/>
            <a:ext cx="8520600" cy="554100"/>
          </a:xfrm>
          <a:prstGeom prst="rect">
            <a:avLst/>
          </a:prstGeom>
          <a:effectLst>
            <a:outerShdw blurRad="57150" rotWithShape="0" algn="bl" dir="5400000" dist="19050">
              <a:schemeClr val="accent5"/>
            </a:outerShdw>
          </a:effectLst>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GB">
                <a:solidFill>
                  <a:schemeClr val="accent6"/>
                </a:solidFill>
                <a:latin typeface="Roboto Mono"/>
                <a:ea typeface="Roboto Mono"/>
                <a:cs typeface="Roboto Mono"/>
                <a:sym typeface="Roboto Mono"/>
              </a:rPr>
              <a:t>ACES </a:t>
            </a:r>
            <a:r>
              <a:rPr lang="en-GB">
                <a:solidFill>
                  <a:schemeClr val="accent5"/>
                </a:solidFill>
                <a:latin typeface="Lexend"/>
                <a:ea typeface="Lexend"/>
                <a:cs typeface="Lexend"/>
                <a:sym typeface="Lexend"/>
              </a:rPr>
              <a:t>Consortium</a:t>
            </a:r>
            <a:endParaRPr>
              <a:solidFill>
                <a:schemeClr val="accent5"/>
              </a:solidFill>
              <a:latin typeface="Lexend"/>
              <a:ea typeface="Lexend"/>
              <a:cs typeface="Lexend"/>
              <a:sym typeface="Lexend"/>
            </a:endParaRPr>
          </a:p>
        </p:txBody>
      </p:sp>
      <p:sp>
        <p:nvSpPr>
          <p:cNvPr id="55" name="Google Shape;55;p13"/>
          <p:cNvSpPr txBox="1"/>
          <p:nvPr/>
        </p:nvSpPr>
        <p:spPr>
          <a:xfrm>
            <a:off x="0" y="4589400"/>
            <a:ext cx="9144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chemeClr val="accent6"/>
                </a:solidFill>
                <a:latin typeface="Lexend"/>
                <a:ea typeface="Lexend"/>
                <a:cs typeface="Lexend"/>
                <a:sym typeface="Lexend"/>
              </a:rPr>
              <a:t>Strategic Pathways</a:t>
            </a:r>
            <a:endParaRPr sz="100">
              <a:solidFill>
                <a:schemeClr val="accent6"/>
              </a:solidFill>
              <a:latin typeface="Lexend"/>
              <a:ea typeface="Lexend"/>
              <a:cs typeface="Lexend"/>
              <a:sym typeface="Lexend"/>
            </a:endParaRPr>
          </a:p>
        </p:txBody>
      </p:sp>
      <p:pic>
        <p:nvPicPr>
          <p:cNvPr id="56" name="Google Shape;56;p13" title="aces_white.png"/>
          <p:cNvPicPr preferRelativeResize="0"/>
          <p:nvPr/>
        </p:nvPicPr>
        <p:blipFill>
          <a:blip r:embed="rId3">
            <a:alphaModFix/>
          </a:blip>
          <a:stretch>
            <a:fillRect/>
          </a:stretch>
        </p:blipFill>
        <p:spPr>
          <a:xfrm>
            <a:off x="2832360" y="802775"/>
            <a:ext cx="3479280" cy="3537951"/>
          </a:xfrm>
          <a:prstGeom prst="rect">
            <a:avLst/>
          </a:prstGeom>
          <a:noFill/>
          <a:ln>
            <a:noFill/>
          </a:ln>
          <a:effectLst>
            <a:outerShdw blurRad="57150" rotWithShape="0" algn="bl" dist="38100">
              <a:schemeClr val="accent5"/>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a:t>ACES Consortium - Why, How and What</a:t>
            </a:r>
            <a:endParaRPr/>
          </a:p>
        </p:txBody>
      </p:sp>
      <p:sp>
        <p:nvSpPr>
          <p:cNvPr id="62" name="Google Shape;62;p14"/>
          <p:cNvSpPr txBox="1"/>
          <p:nvPr>
            <p:ph idx="1" type="body"/>
          </p:nvPr>
        </p:nvSpPr>
        <p:spPr>
          <a:xfrm>
            <a:off x="3000000" y="919822"/>
            <a:ext cx="3120000" cy="32070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GB" sz="2000">
                <a:solidFill>
                  <a:schemeClr val="accent6"/>
                </a:solidFill>
              </a:rPr>
              <a:t>Key questions</a:t>
            </a:r>
            <a:endParaRPr b="1" sz="2000">
              <a:solidFill>
                <a:schemeClr val="accent6"/>
              </a:solidFill>
            </a:endParaRPr>
          </a:p>
          <a:p>
            <a:pPr indent="0" lvl="0" marL="0" rtl="0" algn="ctr">
              <a:lnSpc>
                <a:spcPct val="115000"/>
              </a:lnSpc>
              <a:spcBef>
                <a:spcPts val="0"/>
              </a:spcBef>
              <a:spcAft>
                <a:spcPts val="0"/>
              </a:spcAft>
              <a:buNone/>
            </a:pPr>
            <a:r>
              <a:t/>
            </a:r>
            <a:endParaRPr b="1" sz="2000">
              <a:solidFill>
                <a:schemeClr val="accent6"/>
              </a:solidFill>
            </a:endParaRPr>
          </a:p>
          <a:p>
            <a:pPr indent="-330200" lvl="0" marL="457200" rtl="0" algn="l">
              <a:lnSpc>
                <a:spcPct val="115000"/>
              </a:lnSpc>
              <a:spcBef>
                <a:spcPts val="0"/>
              </a:spcBef>
              <a:spcAft>
                <a:spcPts val="0"/>
              </a:spcAft>
              <a:buClr>
                <a:schemeClr val="accent6"/>
              </a:buClr>
              <a:buSzPts val="1600"/>
              <a:buChar char="●"/>
            </a:pPr>
            <a:r>
              <a:rPr lang="en-GB" sz="1600">
                <a:solidFill>
                  <a:schemeClr val="accent6"/>
                </a:solidFill>
              </a:rPr>
              <a:t>Structure</a:t>
            </a:r>
            <a:r>
              <a:rPr b="1" lang="en-GB" sz="1600">
                <a:solidFill>
                  <a:schemeClr val="accent6"/>
                </a:solidFill>
              </a:rPr>
              <a:t> </a:t>
            </a:r>
            <a:endParaRPr b="1" sz="1600">
              <a:solidFill>
                <a:schemeClr val="accent6"/>
              </a:solidFill>
            </a:endParaRPr>
          </a:p>
          <a:p>
            <a:pPr indent="-330200" lvl="0" marL="457200" rtl="0" algn="l">
              <a:lnSpc>
                <a:spcPct val="115000"/>
              </a:lnSpc>
              <a:spcBef>
                <a:spcPts val="0"/>
              </a:spcBef>
              <a:spcAft>
                <a:spcPts val="0"/>
              </a:spcAft>
              <a:buClr>
                <a:schemeClr val="accent6"/>
              </a:buClr>
              <a:buSzPts val="1600"/>
              <a:buChar char="●"/>
            </a:pPr>
            <a:r>
              <a:rPr lang="en-GB" sz="1600">
                <a:solidFill>
                  <a:schemeClr val="accent6"/>
                </a:solidFill>
              </a:rPr>
              <a:t>Strategy</a:t>
            </a:r>
            <a:endParaRPr sz="1600">
              <a:solidFill>
                <a:schemeClr val="accent6"/>
              </a:solidFill>
            </a:endParaRPr>
          </a:p>
          <a:p>
            <a:pPr indent="-330200" lvl="0" marL="457200" rtl="0" algn="l">
              <a:lnSpc>
                <a:spcPct val="115000"/>
              </a:lnSpc>
              <a:spcBef>
                <a:spcPts val="0"/>
              </a:spcBef>
              <a:spcAft>
                <a:spcPts val="0"/>
              </a:spcAft>
              <a:buClr>
                <a:schemeClr val="accent6"/>
              </a:buClr>
              <a:buSzPts val="1600"/>
              <a:buChar char="●"/>
            </a:pPr>
            <a:r>
              <a:rPr lang="en-GB" sz="1600">
                <a:solidFill>
                  <a:schemeClr val="accent6"/>
                </a:solidFill>
              </a:rPr>
              <a:t>Value creation</a:t>
            </a:r>
            <a:endParaRPr sz="1600">
              <a:solidFill>
                <a:schemeClr val="accent6"/>
              </a:solidFill>
            </a:endParaRPr>
          </a:p>
          <a:p>
            <a:pPr indent="0" lvl="0" marL="0" rtl="0" algn="l">
              <a:spcBef>
                <a:spcPts val="0"/>
              </a:spcBef>
              <a:spcAft>
                <a:spcPts val="1200"/>
              </a:spcAft>
              <a:buNone/>
            </a:pPr>
            <a:r>
              <a:t/>
            </a:r>
            <a:endParaRPr sz="2000"/>
          </a:p>
        </p:txBody>
      </p:sp>
      <p:sp>
        <p:nvSpPr>
          <p:cNvPr id="63" name="Google Shape;63;p14"/>
          <p:cNvSpPr txBox="1"/>
          <p:nvPr/>
        </p:nvSpPr>
        <p:spPr>
          <a:xfrm>
            <a:off x="-100" y="4681800"/>
            <a:ext cx="9144000" cy="461700"/>
          </a:xfrm>
          <a:prstGeom prst="rect">
            <a:avLst/>
          </a:prstGeom>
          <a:solidFill>
            <a:schemeClr val="dk1"/>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GB" sz="1800">
                <a:solidFill>
                  <a:schemeClr val="lt1"/>
                </a:solidFill>
              </a:rPr>
              <a:t>ACES: Appliance Communications and Execution Standard</a:t>
            </a:r>
            <a:endParaRPr>
              <a:solidFill>
                <a:schemeClr val="lt1"/>
              </a:solidFill>
            </a:endParaRPr>
          </a:p>
        </p:txBody>
      </p:sp>
      <p:sp>
        <p:nvSpPr>
          <p:cNvPr id="64" name="Google Shape;64;p14"/>
          <p:cNvSpPr txBox="1"/>
          <p:nvPr/>
        </p:nvSpPr>
        <p:spPr>
          <a:xfrm>
            <a:off x="6120000" y="919822"/>
            <a:ext cx="3024000" cy="17628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2000">
                <a:solidFill>
                  <a:schemeClr val="accent5"/>
                </a:solidFill>
              </a:rPr>
              <a:t>Mission</a:t>
            </a:r>
            <a:endParaRPr b="1" sz="2000">
              <a:solidFill>
                <a:schemeClr val="accent5"/>
              </a:solidFill>
            </a:endParaRPr>
          </a:p>
          <a:p>
            <a:pPr indent="0" lvl="0" marL="0" rtl="0" algn="l">
              <a:lnSpc>
                <a:spcPct val="115000"/>
              </a:lnSpc>
              <a:spcBef>
                <a:spcPts val="1000"/>
              </a:spcBef>
              <a:spcAft>
                <a:spcPts val="1000"/>
              </a:spcAft>
              <a:buNone/>
            </a:pPr>
            <a:r>
              <a:rPr lang="en-GB" sz="1600">
                <a:solidFill>
                  <a:schemeClr val="accent5"/>
                </a:solidFill>
              </a:rPr>
              <a:t>Create a universal standard for physical interoperability of modular drones, robots, and IoT devices.</a:t>
            </a:r>
            <a:endParaRPr sz="1600">
              <a:solidFill>
                <a:schemeClr val="accent5"/>
              </a:solidFill>
            </a:endParaRPr>
          </a:p>
        </p:txBody>
      </p:sp>
      <p:sp>
        <p:nvSpPr>
          <p:cNvPr id="65" name="Google Shape;65;p14"/>
          <p:cNvSpPr txBox="1"/>
          <p:nvPr/>
        </p:nvSpPr>
        <p:spPr>
          <a:xfrm>
            <a:off x="6120000" y="2682614"/>
            <a:ext cx="3024000" cy="14442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GB" sz="1800">
                <a:solidFill>
                  <a:schemeClr val="accent5"/>
                </a:solidFill>
              </a:rPr>
              <a:t>Target Applications</a:t>
            </a:r>
            <a:endParaRPr b="1" sz="1800">
              <a:solidFill>
                <a:schemeClr val="accent5"/>
              </a:solidFill>
            </a:endParaRPr>
          </a:p>
          <a:p>
            <a:pPr indent="-330200" lvl="0" marL="457200" rtl="0" algn="l">
              <a:lnSpc>
                <a:spcPct val="115000"/>
              </a:lnSpc>
              <a:spcBef>
                <a:spcPts val="1000"/>
              </a:spcBef>
              <a:spcAft>
                <a:spcPts val="0"/>
              </a:spcAft>
              <a:buClr>
                <a:schemeClr val="accent5"/>
              </a:buClr>
              <a:buSzPts val="1600"/>
              <a:buChar char="●"/>
            </a:pPr>
            <a:r>
              <a:rPr lang="en-GB" sz="1600">
                <a:solidFill>
                  <a:schemeClr val="accent5"/>
                </a:solidFill>
              </a:rPr>
              <a:t>Agriculture</a:t>
            </a:r>
            <a:endParaRPr sz="1600">
              <a:solidFill>
                <a:schemeClr val="accent5"/>
              </a:solidFill>
            </a:endParaRPr>
          </a:p>
          <a:p>
            <a:pPr indent="-330200" lvl="0" marL="457200" rtl="0" algn="l">
              <a:lnSpc>
                <a:spcPct val="115000"/>
              </a:lnSpc>
              <a:spcBef>
                <a:spcPts val="0"/>
              </a:spcBef>
              <a:spcAft>
                <a:spcPts val="0"/>
              </a:spcAft>
              <a:buClr>
                <a:schemeClr val="accent5"/>
              </a:buClr>
              <a:buSzPts val="1600"/>
              <a:buChar char="●"/>
            </a:pPr>
            <a:r>
              <a:rPr lang="en-GB" sz="1600">
                <a:solidFill>
                  <a:schemeClr val="accent5"/>
                </a:solidFill>
              </a:rPr>
              <a:t>Smart Cities</a:t>
            </a:r>
            <a:endParaRPr sz="1600">
              <a:solidFill>
                <a:schemeClr val="accent5"/>
              </a:solidFill>
            </a:endParaRPr>
          </a:p>
          <a:p>
            <a:pPr indent="-330200" lvl="0" marL="457200" rtl="0" algn="l">
              <a:lnSpc>
                <a:spcPct val="115000"/>
              </a:lnSpc>
              <a:spcBef>
                <a:spcPts val="0"/>
              </a:spcBef>
              <a:spcAft>
                <a:spcPts val="0"/>
              </a:spcAft>
              <a:buClr>
                <a:schemeClr val="accent5"/>
              </a:buClr>
              <a:buSzPts val="1600"/>
              <a:buChar char="●"/>
            </a:pPr>
            <a:r>
              <a:rPr lang="en-GB" sz="1600">
                <a:solidFill>
                  <a:schemeClr val="accent5"/>
                </a:solidFill>
              </a:rPr>
              <a:t>Industry</a:t>
            </a:r>
            <a:endParaRPr sz="1600">
              <a:solidFill>
                <a:schemeClr val="accent5"/>
              </a:solidFill>
            </a:endParaRPr>
          </a:p>
        </p:txBody>
      </p:sp>
      <p:sp>
        <p:nvSpPr>
          <p:cNvPr id="66" name="Google Shape;66;p14"/>
          <p:cNvSpPr txBox="1"/>
          <p:nvPr/>
        </p:nvSpPr>
        <p:spPr>
          <a:xfrm>
            <a:off x="0" y="919822"/>
            <a:ext cx="3000000" cy="32070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GB" sz="2000">
                <a:solidFill>
                  <a:schemeClr val="accent4"/>
                </a:solidFill>
              </a:rPr>
              <a:t>Purpose</a:t>
            </a:r>
            <a:endParaRPr b="1" sz="2000">
              <a:solidFill>
                <a:schemeClr val="accent4"/>
              </a:solidFill>
            </a:endParaRPr>
          </a:p>
          <a:p>
            <a:pPr indent="0" lvl="0" marL="0" rtl="0" algn="l">
              <a:lnSpc>
                <a:spcPct val="115000"/>
              </a:lnSpc>
              <a:spcBef>
                <a:spcPts val="1200"/>
              </a:spcBef>
              <a:spcAft>
                <a:spcPts val="1200"/>
              </a:spcAft>
              <a:buNone/>
            </a:pPr>
            <a:r>
              <a:rPr lang="en-GB" sz="1600">
                <a:solidFill>
                  <a:schemeClr val="accent4"/>
                </a:solidFill>
              </a:rPr>
              <a:t>To drive standardization in IoT and robotics, creating the conditions for seamless integration, ecosystem growth, and greater value for producers, integrators, and users.</a:t>
            </a:r>
            <a:endParaRPr sz="1600">
              <a:solidFill>
                <a:schemeClr val="accent4"/>
              </a:solidFill>
            </a:endParaRPr>
          </a:p>
        </p:txBody>
      </p:sp>
      <p:pic>
        <p:nvPicPr>
          <p:cNvPr id="67" name="Google Shape;67;p14" title="gear_icon.png"/>
          <p:cNvPicPr preferRelativeResize="0"/>
          <p:nvPr/>
        </p:nvPicPr>
        <p:blipFill>
          <a:blip r:embed="rId3">
            <a:alphaModFix/>
          </a:blip>
          <a:stretch>
            <a:fillRect/>
          </a:stretch>
        </p:blipFill>
        <p:spPr>
          <a:xfrm>
            <a:off x="8010001" y="3659714"/>
            <a:ext cx="360000" cy="534205"/>
          </a:xfrm>
          <a:prstGeom prst="rect">
            <a:avLst/>
          </a:prstGeom>
          <a:noFill/>
          <a:ln>
            <a:noFill/>
          </a:ln>
        </p:spPr>
      </p:pic>
      <p:pic>
        <p:nvPicPr>
          <p:cNvPr id="68" name="Google Shape;68;p14" title="plant_icon.png"/>
          <p:cNvPicPr preferRelativeResize="0"/>
          <p:nvPr/>
        </p:nvPicPr>
        <p:blipFill>
          <a:blip r:embed="rId4">
            <a:alphaModFix/>
          </a:blip>
          <a:stretch>
            <a:fillRect/>
          </a:stretch>
        </p:blipFill>
        <p:spPr>
          <a:xfrm>
            <a:off x="8010001" y="3029750"/>
            <a:ext cx="360000" cy="534205"/>
          </a:xfrm>
          <a:prstGeom prst="rect">
            <a:avLst/>
          </a:prstGeom>
          <a:noFill/>
          <a:ln>
            <a:noFill/>
          </a:ln>
        </p:spPr>
      </p:pic>
      <p:pic>
        <p:nvPicPr>
          <p:cNvPr id="69" name="Google Shape;69;p14" title="city_icon.png"/>
          <p:cNvPicPr preferRelativeResize="0"/>
          <p:nvPr/>
        </p:nvPicPr>
        <p:blipFill>
          <a:blip r:embed="rId5">
            <a:alphaModFix/>
          </a:blip>
          <a:stretch>
            <a:fillRect/>
          </a:stretch>
        </p:blipFill>
        <p:spPr>
          <a:xfrm>
            <a:off x="8010001" y="3370134"/>
            <a:ext cx="360000" cy="5342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1000"/>
                                        <p:tgtEl>
                                          <p:spTgt spid="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1000"/>
                                        <p:tgtEl>
                                          <p:spTgt spid="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3" name="Shape 73"/>
        <p:cNvGrpSpPr/>
        <p:nvPr/>
      </p:nvGrpSpPr>
      <p:grpSpPr>
        <a:xfrm>
          <a:off x="0" y="0"/>
          <a:ext cx="0" cy="0"/>
          <a:chOff x="0" y="0"/>
          <a:chExt cx="0" cy="0"/>
        </a:xfrm>
      </p:grpSpPr>
      <p:sp>
        <p:nvSpPr>
          <p:cNvPr id="74" name="Google Shape;74;p15"/>
          <p:cNvSpPr txBox="1"/>
          <p:nvPr>
            <p:ph type="title"/>
          </p:nvPr>
        </p:nvSpPr>
        <p:spPr>
          <a:xfrm>
            <a:off x="0" y="0"/>
            <a:ext cx="9144000" cy="572700"/>
          </a:xfrm>
          <a:prstGeom prst="rect">
            <a:avLst/>
          </a:prstGeom>
          <a:solidFill>
            <a:schemeClr val="dk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solidFill>
                  <a:schemeClr val="lt1"/>
                </a:solidFill>
              </a:rPr>
              <a:t>Strategic </a:t>
            </a:r>
            <a:r>
              <a:rPr lang="en-GB">
                <a:solidFill>
                  <a:schemeClr val="accent6"/>
                </a:solidFill>
              </a:rPr>
              <a:t>Paths</a:t>
            </a:r>
            <a:r>
              <a:rPr lang="en-GB">
                <a:solidFill>
                  <a:schemeClr val="lt1"/>
                </a:solidFill>
              </a:rPr>
              <a:t> for </a:t>
            </a:r>
            <a:r>
              <a:rPr lang="en-GB">
                <a:solidFill>
                  <a:schemeClr val="accent5"/>
                </a:solidFill>
              </a:rPr>
              <a:t>ACES </a:t>
            </a:r>
            <a:r>
              <a:rPr lang="en-GB">
                <a:solidFill>
                  <a:schemeClr val="lt1"/>
                </a:solidFill>
              </a:rPr>
              <a:t>D</a:t>
            </a:r>
            <a:r>
              <a:rPr lang="en-GB">
                <a:solidFill>
                  <a:schemeClr val="lt1"/>
                </a:solidFill>
              </a:rPr>
              <a:t>evelopment</a:t>
            </a:r>
            <a:endParaRPr>
              <a:solidFill>
                <a:schemeClr val="lt1"/>
              </a:solidFill>
            </a:endParaRPr>
          </a:p>
        </p:txBody>
      </p:sp>
      <p:sp>
        <p:nvSpPr>
          <p:cNvPr id="75" name="Google Shape;75;p15"/>
          <p:cNvSpPr txBox="1"/>
          <p:nvPr>
            <p:ph idx="1" type="body"/>
          </p:nvPr>
        </p:nvSpPr>
        <p:spPr>
          <a:xfrm>
            <a:off x="0" y="910511"/>
            <a:ext cx="4799700" cy="27741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chemeClr val="accent6"/>
                </a:solidFill>
              </a:rPr>
              <a:t>Modular Dynamics Inc.</a:t>
            </a:r>
            <a:endParaRPr>
              <a:solidFill>
                <a:schemeClr val="accent6"/>
              </a:solidFill>
            </a:endParaRPr>
          </a:p>
          <a:p>
            <a:pPr indent="-342900" lvl="0" marL="457200" rtl="0" algn="l">
              <a:spcBef>
                <a:spcPts val="1200"/>
              </a:spcBef>
              <a:spcAft>
                <a:spcPts val="0"/>
              </a:spcAft>
              <a:buClr>
                <a:schemeClr val="lt1"/>
              </a:buClr>
              <a:buSzPts val="1800"/>
              <a:buChar char="●"/>
            </a:pPr>
            <a:r>
              <a:rPr lang="en-GB">
                <a:solidFill>
                  <a:schemeClr val="lt1"/>
                </a:solidFill>
              </a:rPr>
              <a:t>Proprietary consortium company</a:t>
            </a:r>
            <a:endParaRPr>
              <a:solidFill>
                <a:schemeClr val="lt1"/>
              </a:solidFill>
            </a:endParaRPr>
          </a:p>
          <a:p>
            <a:pPr indent="-342900" lvl="0" marL="457200" rtl="0" algn="l">
              <a:spcBef>
                <a:spcPts val="0"/>
              </a:spcBef>
              <a:spcAft>
                <a:spcPts val="0"/>
              </a:spcAft>
              <a:buClr>
                <a:schemeClr val="lt1"/>
              </a:buClr>
              <a:buSzPts val="1800"/>
              <a:buChar char="●"/>
            </a:pPr>
            <a:r>
              <a:rPr lang="en-GB">
                <a:solidFill>
                  <a:schemeClr val="lt1"/>
                </a:solidFill>
              </a:rPr>
              <a:t>Owns and licenses ACES protocol</a:t>
            </a:r>
            <a:endParaRPr>
              <a:solidFill>
                <a:schemeClr val="lt1"/>
              </a:solidFill>
            </a:endParaRPr>
          </a:p>
          <a:p>
            <a:pPr indent="-342900" lvl="0" marL="457200" rtl="0" algn="l">
              <a:spcBef>
                <a:spcPts val="0"/>
              </a:spcBef>
              <a:spcAft>
                <a:spcPts val="0"/>
              </a:spcAft>
              <a:buClr>
                <a:schemeClr val="lt1"/>
              </a:buClr>
              <a:buSzPts val="1800"/>
              <a:buChar char="●"/>
            </a:pPr>
            <a:r>
              <a:rPr lang="en-GB">
                <a:solidFill>
                  <a:schemeClr val="lt1"/>
                </a:solidFill>
              </a:rPr>
              <a:t>Revenue from module sales + services</a:t>
            </a:r>
            <a:endParaRPr>
              <a:solidFill>
                <a:schemeClr val="lt1"/>
              </a:solidFill>
            </a:endParaRPr>
          </a:p>
          <a:p>
            <a:pPr indent="-342900" lvl="0" marL="457200" rtl="0" algn="l">
              <a:spcBef>
                <a:spcPts val="0"/>
              </a:spcBef>
              <a:spcAft>
                <a:spcPts val="0"/>
              </a:spcAft>
              <a:buClr>
                <a:schemeClr val="lt1"/>
              </a:buClr>
              <a:buSzPts val="1800"/>
              <a:buChar char="●"/>
            </a:pPr>
            <a:r>
              <a:rPr lang="en-GB">
                <a:solidFill>
                  <a:schemeClr val="lt1"/>
                </a:solidFill>
              </a:rPr>
              <a:t>Control and exclusivity</a:t>
            </a:r>
            <a:endParaRPr>
              <a:solidFill>
                <a:schemeClr val="lt1"/>
              </a:solidFill>
            </a:endParaRPr>
          </a:p>
          <a:p>
            <a:pPr indent="0" lvl="0" marL="0" rtl="0" algn="l">
              <a:spcBef>
                <a:spcPts val="1200"/>
              </a:spcBef>
              <a:spcAft>
                <a:spcPts val="1200"/>
              </a:spcAft>
              <a:buNone/>
            </a:pPr>
            <a:r>
              <a:t/>
            </a:r>
            <a:endParaRPr>
              <a:solidFill>
                <a:schemeClr val="lt1"/>
              </a:solidFill>
            </a:endParaRPr>
          </a:p>
        </p:txBody>
      </p:sp>
      <p:sp>
        <p:nvSpPr>
          <p:cNvPr id="76" name="Google Shape;76;p15"/>
          <p:cNvSpPr txBox="1"/>
          <p:nvPr>
            <p:ph idx="1" type="body"/>
          </p:nvPr>
        </p:nvSpPr>
        <p:spPr>
          <a:xfrm>
            <a:off x="4799550" y="910570"/>
            <a:ext cx="4344600" cy="27741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GB">
                <a:solidFill>
                  <a:schemeClr val="accent5"/>
                </a:solidFill>
              </a:rPr>
              <a:t>ACES Protocol Foundation</a:t>
            </a:r>
            <a:endParaRPr>
              <a:solidFill>
                <a:schemeClr val="accent5"/>
              </a:solidFill>
            </a:endParaRPr>
          </a:p>
          <a:p>
            <a:pPr indent="-334327" lvl="0" marL="457200" rtl="0" algn="l">
              <a:spcBef>
                <a:spcPts val="1200"/>
              </a:spcBef>
              <a:spcAft>
                <a:spcPts val="0"/>
              </a:spcAft>
              <a:buClr>
                <a:schemeClr val="dk1"/>
              </a:buClr>
              <a:buSzPct val="100000"/>
              <a:buChar char="●"/>
            </a:pPr>
            <a:r>
              <a:rPr lang="en-GB">
                <a:solidFill>
                  <a:schemeClr val="dk1"/>
                </a:solidFill>
              </a:rPr>
              <a:t>Non-profit association</a:t>
            </a:r>
            <a:endParaRPr>
              <a:solidFill>
                <a:schemeClr val="dk1"/>
              </a:solidFill>
            </a:endParaRPr>
          </a:p>
          <a:p>
            <a:pPr indent="-334327" lvl="0" marL="457200" rtl="0" algn="l">
              <a:spcBef>
                <a:spcPts val="0"/>
              </a:spcBef>
              <a:spcAft>
                <a:spcPts val="0"/>
              </a:spcAft>
              <a:buClr>
                <a:schemeClr val="dk1"/>
              </a:buClr>
              <a:buSzPct val="100000"/>
              <a:buChar char="●"/>
            </a:pPr>
            <a:r>
              <a:rPr lang="en-GB">
                <a:solidFill>
                  <a:schemeClr val="dk1"/>
                </a:solidFill>
              </a:rPr>
              <a:t>ACES protocol open and royalty-free</a:t>
            </a:r>
            <a:endParaRPr>
              <a:solidFill>
                <a:schemeClr val="dk1"/>
              </a:solidFill>
            </a:endParaRPr>
          </a:p>
          <a:p>
            <a:pPr indent="-334327" lvl="0" marL="457200" rtl="0" algn="l">
              <a:spcBef>
                <a:spcPts val="0"/>
              </a:spcBef>
              <a:spcAft>
                <a:spcPts val="0"/>
              </a:spcAft>
              <a:buClr>
                <a:schemeClr val="dk1"/>
              </a:buClr>
              <a:buSzPct val="100000"/>
              <a:buChar char="●"/>
            </a:pPr>
            <a:r>
              <a:rPr lang="en-GB">
                <a:solidFill>
                  <a:schemeClr val="dk1"/>
                </a:solidFill>
              </a:rPr>
              <a:t>Revenue indirect, via members’ products</a:t>
            </a:r>
            <a:endParaRPr>
              <a:solidFill>
                <a:schemeClr val="dk1"/>
              </a:solidFill>
            </a:endParaRPr>
          </a:p>
          <a:p>
            <a:pPr indent="-334327" lvl="0" marL="457200" rtl="0" algn="l">
              <a:spcBef>
                <a:spcPts val="0"/>
              </a:spcBef>
              <a:spcAft>
                <a:spcPts val="0"/>
              </a:spcAft>
              <a:buClr>
                <a:schemeClr val="dk1"/>
              </a:buClr>
              <a:buSzPct val="100000"/>
              <a:buChar char="●"/>
            </a:pPr>
            <a:r>
              <a:rPr lang="en-GB">
                <a:solidFill>
                  <a:schemeClr val="dk1"/>
                </a:solidFill>
              </a:rPr>
              <a:t>Broad adoption and ecosystem growth</a:t>
            </a:r>
            <a:endParaRPr>
              <a:solidFill>
                <a:schemeClr val="dk1"/>
              </a:solidFill>
            </a:endParaRPr>
          </a:p>
          <a:p>
            <a:pPr indent="0" lvl="0" marL="0" rtl="0" algn="l">
              <a:spcBef>
                <a:spcPts val="1200"/>
              </a:spcBef>
              <a:spcAft>
                <a:spcPts val="1200"/>
              </a:spcAft>
              <a:buNone/>
            </a:pPr>
            <a:r>
              <a:t/>
            </a:r>
            <a:endParaRPr/>
          </a:p>
        </p:txBody>
      </p:sp>
      <p:sp>
        <p:nvSpPr>
          <p:cNvPr id="77" name="Google Shape;77;p15"/>
          <p:cNvSpPr txBox="1"/>
          <p:nvPr>
            <p:ph idx="1" type="body"/>
          </p:nvPr>
        </p:nvSpPr>
        <p:spPr>
          <a:xfrm>
            <a:off x="0" y="3931193"/>
            <a:ext cx="9144000" cy="1212300"/>
          </a:xfrm>
          <a:prstGeom prst="rect">
            <a:avLst/>
          </a:prstGeom>
          <a:solidFill>
            <a:schemeClr val="dk2"/>
          </a:solidFill>
        </p:spPr>
        <p:txBody>
          <a:bodyPr anchorCtr="0" anchor="t" bIns="91425" lIns="91425" spcFirstLastPara="1" rIns="91425" wrap="square" tIns="91425">
            <a:normAutofit/>
          </a:bodyPr>
          <a:lstStyle/>
          <a:p>
            <a:pPr indent="-342900" lvl="0" marL="457200" rtl="0" algn="l">
              <a:spcBef>
                <a:spcPts val="0"/>
              </a:spcBef>
              <a:spcAft>
                <a:spcPts val="0"/>
              </a:spcAft>
              <a:buClr>
                <a:schemeClr val="accent6"/>
              </a:buClr>
              <a:buSzPts val="1800"/>
              <a:buChar char="●"/>
            </a:pPr>
            <a:r>
              <a:rPr lang="en-GB">
                <a:solidFill>
                  <a:schemeClr val="accent6"/>
                </a:solidFill>
              </a:rPr>
              <a:t>Shared mission: </a:t>
            </a:r>
            <a:r>
              <a:rPr lang="en-GB">
                <a:solidFill>
                  <a:schemeClr val="lt1"/>
                </a:solidFill>
              </a:rPr>
              <a:t>establish ACES as interoperability standard</a:t>
            </a:r>
            <a:endParaRPr>
              <a:solidFill>
                <a:schemeClr val="lt1"/>
              </a:solidFill>
            </a:endParaRPr>
          </a:p>
          <a:p>
            <a:pPr indent="-342900" lvl="0" marL="457200" rtl="0" algn="l">
              <a:spcBef>
                <a:spcPts val="0"/>
              </a:spcBef>
              <a:spcAft>
                <a:spcPts val="0"/>
              </a:spcAft>
              <a:buClr>
                <a:schemeClr val="accent6"/>
              </a:buClr>
              <a:buSzPts val="1800"/>
              <a:buChar char="●"/>
            </a:pPr>
            <a:r>
              <a:rPr lang="en-GB">
                <a:solidFill>
                  <a:schemeClr val="accent6"/>
                </a:solidFill>
              </a:rPr>
              <a:t>Same target domains: </a:t>
            </a:r>
            <a:r>
              <a:rPr lang="en-GB">
                <a:solidFill>
                  <a:schemeClr val="lt1"/>
                </a:solidFill>
              </a:rPr>
              <a:t>agriculture, smart cities, industry</a:t>
            </a:r>
            <a:endParaRPr>
              <a:solidFill>
                <a:schemeClr val="lt1"/>
              </a:solidFill>
            </a:endParaRPr>
          </a:p>
          <a:p>
            <a:pPr indent="-342900" lvl="0" marL="457200" rtl="0" algn="l">
              <a:spcBef>
                <a:spcPts val="0"/>
              </a:spcBef>
              <a:spcAft>
                <a:spcPts val="0"/>
              </a:spcAft>
              <a:buClr>
                <a:schemeClr val="accent6"/>
              </a:buClr>
              <a:buSzPts val="1800"/>
              <a:buChar char="●"/>
            </a:pPr>
            <a:r>
              <a:rPr lang="en-GB">
                <a:solidFill>
                  <a:schemeClr val="accent6"/>
                </a:solidFill>
              </a:rPr>
              <a:t>D</a:t>
            </a:r>
            <a:r>
              <a:rPr lang="en-GB">
                <a:solidFill>
                  <a:schemeClr val="accent6"/>
                </a:solidFill>
              </a:rPr>
              <a:t>evelopment and Governance: </a:t>
            </a:r>
            <a:r>
              <a:rPr lang="en-GB">
                <a:solidFill>
                  <a:schemeClr val="lt1"/>
                </a:solidFill>
              </a:rPr>
              <a:t>led by c</a:t>
            </a:r>
            <a:r>
              <a:rPr lang="en-GB">
                <a:solidFill>
                  <a:schemeClr val="lt1"/>
                </a:solidFill>
              </a:rPr>
              <a:t>onsortium partners</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 name="Shape 81"/>
        <p:cNvGrpSpPr/>
        <p:nvPr/>
      </p:nvGrpSpPr>
      <p:grpSpPr>
        <a:xfrm>
          <a:off x="0" y="0"/>
          <a:ext cx="0" cy="0"/>
          <a:chOff x="0" y="0"/>
          <a:chExt cx="0" cy="0"/>
        </a:xfrm>
      </p:grpSpPr>
      <p:sp>
        <p:nvSpPr>
          <p:cNvPr id="82" name="Google Shape;82;p16"/>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solidFill>
                  <a:schemeClr val="lt1"/>
                </a:solidFill>
              </a:rPr>
              <a:t>Option A – </a:t>
            </a:r>
            <a:r>
              <a:rPr lang="en-GB">
                <a:solidFill>
                  <a:schemeClr val="accent5"/>
                </a:solidFill>
              </a:rPr>
              <a:t>Modular</a:t>
            </a:r>
            <a:r>
              <a:rPr lang="en-GB">
                <a:solidFill>
                  <a:schemeClr val="lt1"/>
                </a:solidFill>
              </a:rPr>
              <a:t> </a:t>
            </a:r>
            <a:r>
              <a:rPr lang="en-GB">
                <a:solidFill>
                  <a:schemeClr val="accent5"/>
                </a:solidFill>
              </a:rPr>
              <a:t>Dynamics</a:t>
            </a:r>
            <a:r>
              <a:rPr lang="en-GB">
                <a:solidFill>
                  <a:schemeClr val="lt1"/>
                </a:solidFill>
              </a:rPr>
              <a:t> </a:t>
            </a:r>
            <a:r>
              <a:rPr lang="en-GB">
                <a:solidFill>
                  <a:schemeClr val="accent6"/>
                </a:solidFill>
              </a:rPr>
              <a:t>Inc.</a:t>
            </a:r>
            <a:endParaRPr>
              <a:solidFill>
                <a:schemeClr val="accent6"/>
              </a:solidFill>
            </a:endParaRPr>
          </a:p>
        </p:txBody>
      </p:sp>
      <p:grpSp>
        <p:nvGrpSpPr>
          <p:cNvPr id="83" name="Google Shape;83;p16"/>
          <p:cNvGrpSpPr/>
          <p:nvPr/>
        </p:nvGrpSpPr>
        <p:grpSpPr>
          <a:xfrm>
            <a:off x="3132600" y="3086206"/>
            <a:ext cx="2880000" cy="1800000"/>
            <a:chOff x="3042000" y="3380781"/>
            <a:chExt cx="2880000" cy="1800000"/>
          </a:xfrm>
        </p:grpSpPr>
        <p:sp>
          <p:nvSpPr>
            <p:cNvPr id="84" name="Google Shape;84;p16"/>
            <p:cNvSpPr txBox="1"/>
            <p:nvPr/>
          </p:nvSpPr>
          <p:spPr>
            <a:xfrm>
              <a:off x="3042000" y="3380781"/>
              <a:ext cx="2880000" cy="1800000"/>
            </a:xfrm>
            <a:prstGeom prst="rect">
              <a:avLst/>
            </a:prstGeom>
            <a:solidFill>
              <a:schemeClr val="lt1"/>
            </a:solidFill>
            <a:ln cap="flat" cmpd="sng" w="3810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IP</a:t>
              </a:r>
              <a:endParaRPr b="1"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ACES protocol owned by company </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Licensed under proprietary terms</a:t>
              </a:r>
              <a:br>
                <a:rPr lang="en-GB" sz="1600">
                  <a:solidFill>
                    <a:schemeClr val="dk1"/>
                  </a:solidFill>
                  <a:highlight>
                    <a:schemeClr val="lt1"/>
                  </a:highlight>
                </a:rPr>
              </a:br>
              <a:endParaRPr sz="1600">
                <a:solidFill>
                  <a:schemeClr val="dk1"/>
                </a:solidFill>
                <a:highlight>
                  <a:schemeClr val="lt1"/>
                </a:highlight>
              </a:endParaRPr>
            </a:p>
          </p:txBody>
        </p:sp>
        <p:pic>
          <p:nvPicPr>
            <p:cNvPr id="85" name="Google Shape;85;p16" title="ip.png"/>
            <p:cNvPicPr preferRelativeResize="0"/>
            <p:nvPr/>
          </p:nvPicPr>
          <p:blipFill>
            <a:blip r:embed="rId3">
              <a:alphaModFix/>
            </a:blip>
            <a:stretch>
              <a:fillRect/>
            </a:stretch>
          </p:blipFill>
          <p:spPr>
            <a:xfrm>
              <a:off x="5478150" y="3456975"/>
              <a:ext cx="372600" cy="360000"/>
            </a:xfrm>
            <a:prstGeom prst="rect">
              <a:avLst/>
            </a:prstGeom>
            <a:noFill/>
            <a:ln>
              <a:noFill/>
            </a:ln>
          </p:spPr>
        </p:pic>
      </p:grpSp>
      <p:grpSp>
        <p:nvGrpSpPr>
          <p:cNvPr id="86" name="Google Shape;86;p16"/>
          <p:cNvGrpSpPr/>
          <p:nvPr/>
        </p:nvGrpSpPr>
        <p:grpSpPr>
          <a:xfrm>
            <a:off x="90600" y="798350"/>
            <a:ext cx="2880000" cy="1800000"/>
            <a:chOff x="0" y="798350"/>
            <a:chExt cx="2880000" cy="1800000"/>
          </a:xfrm>
        </p:grpSpPr>
        <p:sp>
          <p:nvSpPr>
            <p:cNvPr id="87" name="Google Shape;87;p16"/>
            <p:cNvSpPr txBox="1"/>
            <p:nvPr/>
          </p:nvSpPr>
          <p:spPr>
            <a:xfrm>
              <a:off x="0" y="798350"/>
              <a:ext cx="2880000" cy="1800000"/>
            </a:xfrm>
            <a:prstGeom prst="rect">
              <a:avLst/>
            </a:prstGeom>
            <a:solidFill>
              <a:schemeClr val="lt1"/>
            </a:solidFill>
            <a:ln cap="flat" cmpd="sng" w="38100">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Legal form</a:t>
              </a:r>
              <a:endParaRPr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For-profit consortium company</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GmbH, Ltd., Inc.</a:t>
              </a:r>
              <a:br>
                <a:rPr lang="en-GB" sz="1600">
                  <a:solidFill>
                    <a:schemeClr val="dk1"/>
                  </a:solidFill>
                  <a:highlight>
                    <a:schemeClr val="lt1"/>
                  </a:highlight>
                </a:rPr>
              </a:br>
              <a:endParaRPr sz="1600">
                <a:solidFill>
                  <a:schemeClr val="dk1"/>
                </a:solidFill>
                <a:highlight>
                  <a:schemeClr val="lt1"/>
                </a:highlight>
              </a:endParaRPr>
            </a:p>
          </p:txBody>
        </p:sp>
        <p:pic>
          <p:nvPicPr>
            <p:cNvPr id="88" name="Google Shape;88;p16" title="legal.png"/>
            <p:cNvPicPr preferRelativeResize="0"/>
            <p:nvPr/>
          </p:nvPicPr>
          <p:blipFill>
            <a:blip r:embed="rId4">
              <a:alphaModFix/>
            </a:blip>
            <a:stretch>
              <a:fillRect/>
            </a:stretch>
          </p:blipFill>
          <p:spPr>
            <a:xfrm>
              <a:off x="2406000" y="874550"/>
              <a:ext cx="372600" cy="360000"/>
            </a:xfrm>
            <a:prstGeom prst="rect">
              <a:avLst/>
            </a:prstGeom>
            <a:noFill/>
            <a:ln>
              <a:noFill/>
            </a:ln>
          </p:spPr>
        </p:pic>
      </p:grpSp>
      <p:grpSp>
        <p:nvGrpSpPr>
          <p:cNvPr id="89" name="Google Shape;89;p16"/>
          <p:cNvGrpSpPr/>
          <p:nvPr/>
        </p:nvGrpSpPr>
        <p:grpSpPr>
          <a:xfrm>
            <a:off x="3132600" y="798350"/>
            <a:ext cx="2880000" cy="1800000"/>
            <a:chOff x="2997000" y="1170000"/>
            <a:chExt cx="2880000" cy="1800000"/>
          </a:xfrm>
        </p:grpSpPr>
        <p:sp>
          <p:nvSpPr>
            <p:cNvPr id="90" name="Google Shape;90;p16"/>
            <p:cNvSpPr txBox="1"/>
            <p:nvPr/>
          </p:nvSpPr>
          <p:spPr>
            <a:xfrm>
              <a:off x="2997000" y="1170000"/>
              <a:ext cx="2880000" cy="1800000"/>
            </a:xfrm>
            <a:prstGeom prst="rect">
              <a:avLst/>
            </a:prstGeom>
            <a:solidFill>
              <a:schemeClr val="lt1"/>
            </a:solidFill>
            <a:ln cap="flat" cmpd="sng" w="3810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G</a:t>
              </a:r>
              <a:r>
                <a:rPr b="1" lang="en-GB" sz="1600">
                  <a:solidFill>
                    <a:schemeClr val="dk1"/>
                  </a:solidFill>
                  <a:highlight>
                    <a:schemeClr val="lt1"/>
                  </a:highlight>
                </a:rPr>
                <a:t>overnance</a:t>
              </a:r>
              <a:r>
                <a:rPr lang="en-GB" sz="1600">
                  <a:solidFill>
                    <a:schemeClr val="dk1"/>
                  </a:solidFill>
                  <a:highlight>
                    <a:schemeClr val="lt1"/>
                  </a:highlight>
                </a:rPr>
                <a:t> </a:t>
              </a:r>
              <a:endParaRPr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Shares held by members</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Board decisions weighted by shares</a:t>
              </a:r>
              <a:br>
                <a:rPr lang="en-GB" sz="1600">
                  <a:solidFill>
                    <a:schemeClr val="dk1"/>
                  </a:solidFill>
                  <a:highlight>
                    <a:schemeClr val="lt1"/>
                  </a:highlight>
                </a:rPr>
              </a:br>
              <a:endParaRPr sz="1600">
                <a:solidFill>
                  <a:schemeClr val="dk1"/>
                </a:solidFill>
                <a:highlight>
                  <a:schemeClr val="lt1"/>
                </a:highlight>
              </a:endParaRPr>
            </a:p>
          </p:txBody>
        </p:sp>
        <p:pic>
          <p:nvPicPr>
            <p:cNvPr id="91" name="Google Shape;91;p16" title="ownership.png"/>
            <p:cNvPicPr preferRelativeResize="0"/>
            <p:nvPr/>
          </p:nvPicPr>
          <p:blipFill>
            <a:blip r:embed="rId5">
              <a:alphaModFix/>
            </a:blip>
            <a:stretch>
              <a:fillRect/>
            </a:stretch>
          </p:blipFill>
          <p:spPr>
            <a:xfrm>
              <a:off x="5433150" y="1246200"/>
              <a:ext cx="372600" cy="360000"/>
            </a:xfrm>
            <a:prstGeom prst="rect">
              <a:avLst/>
            </a:prstGeom>
            <a:noFill/>
            <a:ln>
              <a:noFill/>
            </a:ln>
          </p:spPr>
        </p:pic>
      </p:grpSp>
      <p:grpSp>
        <p:nvGrpSpPr>
          <p:cNvPr id="92" name="Google Shape;92;p16"/>
          <p:cNvGrpSpPr/>
          <p:nvPr/>
        </p:nvGrpSpPr>
        <p:grpSpPr>
          <a:xfrm>
            <a:off x="6174600" y="798350"/>
            <a:ext cx="2880000" cy="1800000"/>
            <a:chOff x="6084000" y="1518350"/>
            <a:chExt cx="2880000" cy="1800000"/>
          </a:xfrm>
        </p:grpSpPr>
        <p:sp>
          <p:nvSpPr>
            <p:cNvPr id="93" name="Google Shape;93;p16"/>
            <p:cNvSpPr txBox="1"/>
            <p:nvPr/>
          </p:nvSpPr>
          <p:spPr>
            <a:xfrm>
              <a:off x="6084000" y="1518350"/>
              <a:ext cx="2880000" cy="1800000"/>
            </a:xfrm>
            <a:prstGeom prst="rect">
              <a:avLst/>
            </a:prstGeom>
            <a:solidFill>
              <a:schemeClr val="lt1"/>
            </a:solidFill>
            <a:ln cap="flat" cmpd="sng" w="3810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Revenue streams</a:t>
              </a:r>
              <a:endParaRPr b="1"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Hardware module sales</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Professional services</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Licensing fees</a:t>
              </a:r>
              <a:br>
                <a:rPr lang="en-GB" sz="1600">
                  <a:solidFill>
                    <a:schemeClr val="dk1"/>
                  </a:solidFill>
                  <a:highlight>
                    <a:schemeClr val="lt1"/>
                  </a:highlight>
                </a:rPr>
              </a:br>
              <a:endParaRPr sz="1600">
                <a:solidFill>
                  <a:schemeClr val="dk1"/>
                </a:solidFill>
                <a:highlight>
                  <a:schemeClr val="lt1"/>
                </a:highlight>
              </a:endParaRPr>
            </a:p>
          </p:txBody>
        </p:sp>
        <p:pic>
          <p:nvPicPr>
            <p:cNvPr id="94" name="Google Shape;94;p16" title="revenue.png"/>
            <p:cNvPicPr preferRelativeResize="0"/>
            <p:nvPr/>
          </p:nvPicPr>
          <p:blipFill>
            <a:blip r:embed="rId6">
              <a:alphaModFix/>
            </a:blip>
            <a:stretch>
              <a:fillRect/>
            </a:stretch>
          </p:blipFill>
          <p:spPr>
            <a:xfrm>
              <a:off x="8515200" y="1594550"/>
              <a:ext cx="372600" cy="360000"/>
            </a:xfrm>
            <a:prstGeom prst="rect">
              <a:avLst/>
            </a:prstGeom>
            <a:noFill/>
            <a:ln>
              <a:noFill/>
            </a:ln>
          </p:spPr>
        </p:pic>
      </p:grpSp>
      <p:grpSp>
        <p:nvGrpSpPr>
          <p:cNvPr id="95" name="Google Shape;95;p16"/>
          <p:cNvGrpSpPr/>
          <p:nvPr/>
        </p:nvGrpSpPr>
        <p:grpSpPr>
          <a:xfrm>
            <a:off x="6174600" y="3086196"/>
            <a:ext cx="2880000" cy="1800000"/>
            <a:chOff x="6084000" y="3086196"/>
            <a:chExt cx="2880000" cy="1800000"/>
          </a:xfrm>
        </p:grpSpPr>
        <p:sp>
          <p:nvSpPr>
            <p:cNvPr id="96" name="Google Shape;96;p16"/>
            <p:cNvSpPr txBox="1"/>
            <p:nvPr/>
          </p:nvSpPr>
          <p:spPr>
            <a:xfrm>
              <a:off x="6084000" y="3086196"/>
              <a:ext cx="2880000" cy="1800000"/>
            </a:xfrm>
            <a:prstGeom prst="rect">
              <a:avLst/>
            </a:prstGeom>
            <a:solidFill>
              <a:schemeClr val="lt1"/>
            </a:solidFill>
            <a:ln cap="flat" cmpd="sng" w="47625">
              <a:solidFill>
                <a:schemeClr val="accent4"/>
              </a:solidFill>
              <a:prstDash val="solid"/>
              <a:round/>
              <a:headEnd len="sm" w="sm" type="none"/>
              <a:tailEnd len="sm" w="sm" type="none"/>
            </a:ln>
          </p:spPr>
          <p:txBody>
            <a:bodyPr anchorCtr="0" anchor="t" bIns="114275" lIns="114275" spcFirstLastPara="1" rIns="114275" wrap="square" tIns="114275">
              <a:noAutofit/>
            </a:bodyPr>
            <a:lstStyle/>
            <a:p>
              <a:pPr indent="0" lvl="0" marL="0" rtl="0" algn="l">
                <a:lnSpc>
                  <a:spcPct val="115000"/>
                </a:lnSpc>
                <a:spcBef>
                  <a:spcPts val="1500"/>
                </a:spcBef>
                <a:spcAft>
                  <a:spcPts val="0"/>
                </a:spcAft>
                <a:buNone/>
              </a:pPr>
              <a:r>
                <a:rPr b="1" lang="en-GB" sz="1600">
                  <a:solidFill>
                    <a:schemeClr val="dk1"/>
                  </a:solidFill>
                  <a:highlight>
                    <a:schemeClr val="lt1"/>
                  </a:highlight>
                </a:rPr>
                <a:t>Main risks</a:t>
              </a:r>
              <a:endParaRPr sz="1600">
                <a:solidFill>
                  <a:schemeClr val="dk1"/>
                </a:solidFill>
                <a:highlight>
                  <a:schemeClr val="lt1"/>
                </a:highlight>
              </a:endParaRPr>
            </a:p>
            <a:p>
              <a:pPr indent="-330200" lvl="0" marL="457200" rtl="0" algn="l">
                <a:lnSpc>
                  <a:spcPct val="115000"/>
                </a:lnSpc>
                <a:spcBef>
                  <a:spcPts val="1500"/>
                </a:spcBef>
                <a:spcAft>
                  <a:spcPts val="0"/>
                </a:spcAft>
                <a:buClr>
                  <a:schemeClr val="dk1"/>
                </a:buClr>
                <a:buSzPts val="1600"/>
                <a:buChar char="●"/>
              </a:pPr>
              <a:r>
                <a:rPr lang="en-GB" sz="1600">
                  <a:solidFill>
                    <a:schemeClr val="dk1"/>
                  </a:solidFill>
                  <a:highlight>
                    <a:schemeClr val="lt1"/>
                  </a:highlight>
                </a:rPr>
                <a:t>Slower adoption</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vendor lock-in concerns</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Higher capital needs for scaling</a:t>
              </a:r>
              <a:endParaRPr b="1" sz="1600">
                <a:solidFill>
                  <a:schemeClr val="dk1"/>
                </a:solidFill>
                <a:highlight>
                  <a:schemeClr val="lt1"/>
                </a:highlight>
              </a:endParaRPr>
            </a:p>
          </p:txBody>
        </p:sp>
        <p:pic>
          <p:nvPicPr>
            <p:cNvPr id="97" name="Google Shape;97;p16" title="risk.png"/>
            <p:cNvPicPr preferRelativeResize="0"/>
            <p:nvPr/>
          </p:nvPicPr>
          <p:blipFill>
            <a:blip r:embed="rId7">
              <a:alphaModFix/>
            </a:blip>
            <a:stretch>
              <a:fillRect/>
            </a:stretch>
          </p:blipFill>
          <p:spPr>
            <a:xfrm>
              <a:off x="8515200" y="3162400"/>
              <a:ext cx="372600" cy="360000"/>
            </a:xfrm>
            <a:prstGeom prst="rect">
              <a:avLst/>
            </a:prstGeom>
            <a:noFill/>
            <a:ln>
              <a:noFill/>
            </a:ln>
          </p:spPr>
        </p:pic>
      </p:grpSp>
      <p:grpSp>
        <p:nvGrpSpPr>
          <p:cNvPr id="98" name="Google Shape;98;p16"/>
          <p:cNvGrpSpPr/>
          <p:nvPr/>
        </p:nvGrpSpPr>
        <p:grpSpPr>
          <a:xfrm>
            <a:off x="90600" y="3086199"/>
            <a:ext cx="2880000" cy="1800000"/>
            <a:chOff x="0" y="3086199"/>
            <a:chExt cx="2880000" cy="1800000"/>
          </a:xfrm>
        </p:grpSpPr>
        <p:sp>
          <p:nvSpPr>
            <p:cNvPr id="99" name="Google Shape;99;p16"/>
            <p:cNvSpPr txBox="1"/>
            <p:nvPr/>
          </p:nvSpPr>
          <p:spPr>
            <a:xfrm>
              <a:off x="0" y="3086199"/>
              <a:ext cx="2880000" cy="1800000"/>
            </a:xfrm>
            <a:prstGeom prst="rect">
              <a:avLst/>
            </a:prstGeom>
            <a:solidFill>
              <a:schemeClr val="lt1"/>
            </a:solidFill>
            <a:ln cap="flat" cmpd="sng" w="3810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Strategic benefits</a:t>
              </a:r>
              <a:endParaRPr b="1"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Tight control</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Direct monetization</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Exclusivity</a:t>
              </a:r>
              <a:br>
                <a:rPr lang="en-GB" sz="1600">
                  <a:solidFill>
                    <a:schemeClr val="dk1"/>
                  </a:solidFill>
                  <a:highlight>
                    <a:schemeClr val="lt1"/>
                  </a:highlight>
                </a:rPr>
              </a:br>
              <a:endParaRPr sz="1600">
                <a:solidFill>
                  <a:schemeClr val="dk1"/>
                </a:solidFill>
                <a:highlight>
                  <a:schemeClr val="lt1"/>
                </a:highlight>
              </a:endParaRPr>
            </a:p>
          </p:txBody>
        </p:sp>
        <p:pic>
          <p:nvPicPr>
            <p:cNvPr id="100" name="Google Shape;100;p16" title="strategic_benefits.png"/>
            <p:cNvPicPr preferRelativeResize="0"/>
            <p:nvPr/>
          </p:nvPicPr>
          <p:blipFill>
            <a:blip r:embed="rId8">
              <a:alphaModFix/>
            </a:blip>
            <a:stretch>
              <a:fillRect/>
            </a:stretch>
          </p:blipFill>
          <p:spPr>
            <a:xfrm>
              <a:off x="2431200" y="3204854"/>
              <a:ext cx="372600" cy="463917"/>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sp>
        <p:nvSpPr>
          <p:cNvPr id="105" name="Google Shape;105;p17"/>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solidFill>
                  <a:schemeClr val="accent5"/>
                </a:solidFill>
              </a:rPr>
              <a:t>Proprietary</a:t>
            </a:r>
            <a:r>
              <a:rPr lang="en-GB">
                <a:solidFill>
                  <a:schemeClr val="lt1"/>
                </a:solidFill>
              </a:rPr>
              <a:t> European Precedents</a:t>
            </a:r>
            <a:endParaRPr>
              <a:solidFill>
                <a:schemeClr val="lt1"/>
              </a:solidFill>
            </a:endParaRPr>
          </a:p>
        </p:txBody>
      </p:sp>
      <p:sp>
        <p:nvSpPr>
          <p:cNvPr id="106" name="Google Shape;106;p17"/>
          <p:cNvSpPr txBox="1"/>
          <p:nvPr>
            <p:ph idx="1" type="body"/>
          </p:nvPr>
        </p:nvSpPr>
        <p:spPr>
          <a:xfrm>
            <a:off x="311700" y="1199100"/>
            <a:ext cx="2633100" cy="34164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Clr>
                <a:schemeClr val="dk1"/>
              </a:buClr>
              <a:buSzPts val="1100"/>
              <a:buFont typeface="Arial"/>
              <a:buNone/>
            </a:pPr>
            <a:r>
              <a:rPr b="1" lang="en-GB" sz="1508">
                <a:solidFill>
                  <a:schemeClr val="accent6"/>
                </a:solidFill>
              </a:rPr>
              <a:t>ARM (UK)</a:t>
            </a:r>
            <a:endParaRPr b="1" sz="1508">
              <a:solidFill>
                <a:schemeClr val="accent6"/>
              </a:solidFill>
            </a:endParaRPr>
          </a:p>
          <a:p>
            <a:pPr indent="-311665" lvl="0" marL="457200" rtl="0" algn="l">
              <a:spcBef>
                <a:spcPts val="1200"/>
              </a:spcBef>
              <a:spcAft>
                <a:spcPts val="0"/>
              </a:spcAft>
              <a:buClr>
                <a:schemeClr val="lt1"/>
              </a:buClr>
              <a:buSzPts val="1308"/>
              <a:buChar char="●"/>
            </a:pPr>
            <a:r>
              <a:rPr lang="en-GB" sz="1308">
                <a:solidFill>
                  <a:schemeClr val="lt1"/>
                </a:solidFill>
              </a:rPr>
              <a:t>Joint Venture Company: Acorn + Apple + VLSI</a:t>
            </a:r>
            <a:endParaRPr sz="1308">
              <a:solidFill>
                <a:schemeClr val="lt1"/>
              </a:solidFill>
            </a:endParaRPr>
          </a:p>
          <a:p>
            <a:pPr indent="-311665" lvl="0" marL="457200" rtl="0" algn="l">
              <a:spcBef>
                <a:spcPts val="0"/>
              </a:spcBef>
              <a:spcAft>
                <a:spcPts val="0"/>
              </a:spcAft>
              <a:buClr>
                <a:schemeClr val="lt1"/>
              </a:buClr>
              <a:buSzPts val="1308"/>
              <a:buChar char="●"/>
            </a:pPr>
            <a:r>
              <a:rPr lang="en-GB" sz="1308">
                <a:solidFill>
                  <a:schemeClr val="lt1"/>
                </a:solidFill>
              </a:rPr>
              <a:t>Licensed CPU IP, royalties on every chip</a:t>
            </a:r>
            <a:endParaRPr sz="1308">
              <a:solidFill>
                <a:schemeClr val="lt1"/>
              </a:solidFill>
            </a:endParaRPr>
          </a:p>
          <a:p>
            <a:pPr indent="-311665" lvl="0" marL="457200" rtl="0" algn="l">
              <a:spcBef>
                <a:spcPts val="0"/>
              </a:spcBef>
              <a:spcAft>
                <a:spcPts val="0"/>
              </a:spcAft>
              <a:buClr>
                <a:schemeClr val="lt1"/>
              </a:buClr>
              <a:buSzPts val="1308"/>
              <a:buChar char="●"/>
            </a:pPr>
            <a:r>
              <a:rPr lang="en-GB" sz="1308">
                <a:solidFill>
                  <a:schemeClr val="lt1"/>
                </a:solidFill>
              </a:rPr>
              <a:t>Became global standard (95%+ smartphones)</a:t>
            </a:r>
            <a:endParaRPr sz="1308">
              <a:solidFill>
                <a:schemeClr val="lt1"/>
              </a:solidFill>
            </a:endParaRPr>
          </a:p>
          <a:p>
            <a:pPr indent="0" lvl="0" marL="0" rtl="0" algn="l">
              <a:spcBef>
                <a:spcPts val="1200"/>
              </a:spcBef>
              <a:spcAft>
                <a:spcPts val="0"/>
              </a:spcAft>
              <a:buNone/>
            </a:pPr>
            <a:r>
              <a:t/>
            </a:r>
            <a:endParaRPr sz="1308">
              <a:solidFill>
                <a:schemeClr val="lt1"/>
              </a:solidFill>
            </a:endParaRPr>
          </a:p>
          <a:p>
            <a:pPr indent="0" lvl="0" marL="0" rtl="0" algn="ctr">
              <a:spcBef>
                <a:spcPts val="1200"/>
              </a:spcBef>
              <a:spcAft>
                <a:spcPts val="0"/>
              </a:spcAft>
              <a:buNone/>
            </a:pPr>
            <a:r>
              <a:t/>
            </a:r>
            <a:endParaRPr i="1" sz="1308">
              <a:solidFill>
                <a:schemeClr val="accent6"/>
              </a:solidFill>
            </a:endParaRPr>
          </a:p>
          <a:p>
            <a:pPr indent="0" lvl="0" marL="0" rtl="0" algn="ctr">
              <a:spcBef>
                <a:spcPts val="1200"/>
              </a:spcBef>
              <a:spcAft>
                <a:spcPts val="0"/>
              </a:spcAft>
              <a:buNone/>
            </a:pPr>
            <a:r>
              <a:rPr i="1" lang="en-GB" sz="1308">
                <a:solidFill>
                  <a:schemeClr val="accent6"/>
                </a:solidFill>
              </a:rPr>
              <a:t>Lesson: proprietary JV can dominate if licensing is flexible and tech is strong</a:t>
            </a:r>
            <a:endParaRPr i="1" sz="1308">
              <a:solidFill>
                <a:schemeClr val="accent6"/>
              </a:solidFill>
            </a:endParaRPr>
          </a:p>
          <a:p>
            <a:pPr indent="0" lvl="0" marL="0" rtl="0" algn="l">
              <a:spcBef>
                <a:spcPts val="1200"/>
              </a:spcBef>
              <a:spcAft>
                <a:spcPts val="1200"/>
              </a:spcAft>
              <a:buNone/>
            </a:pPr>
            <a:r>
              <a:t/>
            </a:r>
            <a:endParaRPr>
              <a:solidFill>
                <a:schemeClr val="lt1"/>
              </a:solidFill>
            </a:endParaRPr>
          </a:p>
        </p:txBody>
      </p:sp>
      <p:sp>
        <p:nvSpPr>
          <p:cNvPr id="107" name="Google Shape;107;p17"/>
          <p:cNvSpPr txBox="1"/>
          <p:nvPr/>
        </p:nvSpPr>
        <p:spPr>
          <a:xfrm>
            <a:off x="3006850" y="1199100"/>
            <a:ext cx="2843700" cy="3567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GB" sz="1500">
                <a:solidFill>
                  <a:schemeClr val="accent4"/>
                </a:solidFill>
              </a:rPr>
              <a:t>Symbian (EU)</a:t>
            </a:r>
            <a:endParaRPr b="1" sz="1500">
              <a:solidFill>
                <a:schemeClr val="accent4"/>
              </a:solidFill>
            </a:endParaRPr>
          </a:p>
          <a:p>
            <a:pPr indent="-311150" lvl="0" marL="457200" rtl="0" algn="l">
              <a:lnSpc>
                <a:spcPct val="115000"/>
              </a:lnSpc>
              <a:spcBef>
                <a:spcPts val="1200"/>
              </a:spcBef>
              <a:spcAft>
                <a:spcPts val="0"/>
              </a:spcAft>
              <a:buClr>
                <a:schemeClr val="lt1"/>
              </a:buClr>
              <a:buSzPts val="1300"/>
              <a:buChar char="●"/>
            </a:pPr>
            <a:r>
              <a:rPr lang="en-GB" sz="1300">
                <a:solidFill>
                  <a:schemeClr val="lt1"/>
                </a:solidFill>
              </a:rPr>
              <a:t>Owned by Nokia, Ericsson, Motorola, Psion</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lang="en-GB" sz="1300">
                <a:solidFill>
                  <a:schemeClr val="lt1"/>
                </a:solidFill>
              </a:rPr>
              <a:t>Smartphone OS, &gt;67% market share in 2006</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lang="en-GB" sz="1300">
                <a:solidFill>
                  <a:schemeClr val="lt1"/>
                </a:solidFill>
              </a:rPr>
              <a:t>Slow governance, overtaken by open rivals</a:t>
            </a:r>
            <a:endParaRPr sz="1300">
              <a:solidFill>
                <a:schemeClr val="lt1"/>
              </a:solidFill>
            </a:endParaRPr>
          </a:p>
          <a:p>
            <a:pPr indent="0" lvl="0" marL="457200" rtl="0" algn="l">
              <a:lnSpc>
                <a:spcPct val="115000"/>
              </a:lnSpc>
              <a:spcBef>
                <a:spcPts val="1200"/>
              </a:spcBef>
              <a:spcAft>
                <a:spcPts val="0"/>
              </a:spcAft>
              <a:buNone/>
            </a:pPr>
            <a:r>
              <a:t/>
            </a:r>
            <a:endParaRPr i="1" sz="1300">
              <a:solidFill>
                <a:schemeClr val="accent4"/>
              </a:solidFill>
            </a:endParaRPr>
          </a:p>
          <a:p>
            <a:pPr indent="0" lvl="0" marL="457200" rtl="0" algn="l">
              <a:lnSpc>
                <a:spcPct val="115000"/>
              </a:lnSpc>
              <a:spcBef>
                <a:spcPts val="1200"/>
              </a:spcBef>
              <a:spcAft>
                <a:spcPts val="0"/>
              </a:spcAft>
              <a:buNone/>
            </a:pPr>
            <a:r>
              <a:t/>
            </a:r>
            <a:endParaRPr i="1" sz="1300">
              <a:solidFill>
                <a:schemeClr val="accent4"/>
              </a:solidFill>
            </a:endParaRPr>
          </a:p>
          <a:p>
            <a:pPr indent="0" lvl="0" marL="457200" rtl="0" algn="l">
              <a:lnSpc>
                <a:spcPct val="115000"/>
              </a:lnSpc>
              <a:spcBef>
                <a:spcPts val="1200"/>
              </a:spcBef>
              <a:spcAft>
                <a:spcPts val="1200"/>
              </a:spcAft>
              <a:buNone/>
            </a:pPr>
            <a:r>
              <a:rPr i="1" lang="en-GB" sz="1300">
                <a:solidFill>
                  <a:schemeClr val="accent4"/>
                </a:solidFill>
              </a:rPr>
              <a:t>L</a:t>
            </a:r>
            <a:r>
              <a:rPr i="1" lang="en-GB" sz="1300">
                <a:solidFill>
                  <a:schemeClr val="accent4"/>
                </a:solidFill>
              </a:rPr>
              <a:t>esson: dominance can collapse without openness and speed</a:t>
            </a:r>
            <a:endParaRPr i="1" sz="1300">
              <a:solidFill>
                <a:schemeClr val="accent4"/>
              </a:solidFill>
            </a:endParaRPr>
          </a:p>
        </p:txBody>
      </p:sp>
      <p:sp>
        <p:nvSpPr>
          <p:cNvPr id="108" name="Google Shape;108;p17"/>
          <p:cNvSpPr txBox="1"/>
          <p:nvPr/>
        </p:nvSpPr>
        <p:spPr>
          <a:xfrm>
            <a:off x="5912600" y="1199100"/>
            <a:ext cx="3000000" cy="3797400"/>
          </a:xfrm>
          <a:prstGeom prst="rect">
            <a:avLst/>
          </a:prstGeom>
          <a:noFill/>
          <a:ln>
            <a:noFill/>
          </a:ln>
        </p:spPr>
        <p:txBody>
          <a:bodyPr anchorCtr="0" anchor="t" bIns="91425" lIns="90000" spcFirstLastPara="1" rIns="91425" wrap="square" tIns="91425">
            <a:spAutoFit/>
          </a:bodyPr>
          <a:lstStyle/>
          <a:p>
            <a:pPr indent="0" lvl="0" marL="0" rtl="0" algn="ctr">
              <a:lnSpc>
                <a:spcPct val="115000"/>
              </a:lnSpc>
              <a:spcBef>
                <a:spcPts val="1200"/>
              </a:spcBef>
              <a:spcAft>
                <a:spcPts val="0"/>
              </a:spcAft>
              <a:buNone/>
            </a:pPr>
            <a:r>
              <a:rPr b="1" lang="en-GB" sz="1500">
                <a:solidFill>
                  <a:schemeClr val="accent5"/>
                </a:solidFill>
              </a:rPr>
              <a:t>Z-Wave (Denmark)</a:t>
            </a:r>
            <a:endParaRPr b="1" sz="1500">
              <a:solidFill>
                <a:schemeClr val="accent5"/>
              </a:solidFill>
            </a:endParaRPr>
          </a:p>
          <a:p>
            <a:pPr indent="-311150" lvl="0" marL="457200" rtl="0" algn="l">
              <a:lnSpc>
                <a:spcPct val="115000"/>
              </a:lnSpc>
              <a:spcBef>
                <a:spcPts val="1200"/>
              </a:spcBef>
              <a:spcAft>
                <a:spcPts val="0"/>
              </a:spcAft>
              <a:buClr>
                <a:schemeClr val="lt1"/>
              </a:buClr>
              <a:buSzPts val="1300"/>
              <a:buChar char="●"/>
            </a:pPr>
            <a:r>
              <a:rPr lang="en-GB" sz="1300">
                <a:solidFill>
                  <a:schemeClr val="lt1"/>
                </a:solidFill>
              </a:rPr>
              <a:t>Proprietary smart home protocol, one chip vendor</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lang="en-GB" sz="1300">
                <a:solidFill>
                  <a:schemeClr val="lt1"/>
                </a:solidFill>
              </a:rPr>
              <a:t>4,000+ certified products, but limited ecosystem</a:t>
            </a: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lang="en-GB" sz="1300">
                <a:solidFill>
                  <a:schemeClr val="lt1"/>
                </a:solidFill>
              </a:rPr>
              <a:t>Specs opened in 2020 to sustain adoption</a:t>
            </a:r>
            <a:endParaRPr sz="1300">
              <a:solidFill>
                <a:schemeClr val="lt1"/>
              </a:solidFill>
            </a:endParaRPr>
          </a:p>
          <a:p>
            <a:pPr indent="0" lvl="0" marL="457200" rtl="0" algn="l">
              <a:lnSpc>
                <a:spcPct val="115000"/>
              </a:lnSpc>
              <a:spcBef>
                <a:spcPts val="1200"/>
              </a:spcBef>
              <a:spcAft>
                <a:spcPts val="0"/>
              </a:spcAft>
              <a:buNone/>
            </a:pPr>
            <a:r>
              <a:t/>
            </a:r>
            <a:endParaRPr sz="1300">
              <a:solidFill>
                <a:schemeClr val="lt1"/>
              </a:solidFill>
            </a:endParaRPr>
          </a:p>
          <a:p>
            <a:pPr indent="0" lvl="0" marL="457200" rtl="0" algn="l">
              <a:lnSpc>
                <a:spcPct val="115000"/>
              </a:lnSpc>
              <a:spcBef>
                <a:spcPts val="1200"/>
              </a:spcBef>
              <a:spcAft>
                <a:spcPts val="0"/>
              </a:spcAft>
              <a:buNone/>
            </a:pPr>
            <a:r>
              <a:t/>
            </a:r>
            <a:endParaRPr i="1" sz="1300">
              <a:solidFill>
                <a:schemeClr val="accent5"/>
              </a:solidFill>
            </a:endParaRPr>
          </a:p>
          <a:p>
            <a:pPr indent="0" lvl="0" marL="457200" rtl="0" algn="l">
              <a:lnSpc>
                <a:spcPct val="115000"/>
              </a:lnSpc>
              <a:spcBef>
                <a:spcPts val="1200"/>
              </a:spcBef>
              <a:spcAft>
                <a:spcPts val="1200"/>
              </a:spcAft>
              <a:buNone/>
            </a:pPr>
            <a:r>
              <a:rPr i="1" lang="en-GB" sz="1300">
                <a:solidFill>
                  <a:schemeClr val="accent5"/>
                </a:solidFill>
              </a:rPr>
              <a:t>Lesson: proprietary IoT standards risk being sidelined, may need to open later losing the IP</a:t>
            </a:r>
            <a:endParaRPr i="1" sz="1300">
              <a:solidFill>
                <a:schemeClr val="accent5"/>
              </a:solidFill>
            </a:endParaRPr>
          </a:p>
        </p:txBody>
      </p:sp>
      <p:pic>
        <p:nvPicPr>
          <p:cNvPr id="109" name="Google Shape;109;p17"/>
          <p:cNvPicPr preferRelativeResize="0"/>
          <p:nvPr/>
        </p:nvPicPr>
        <p:blipFill>
          <a:blip r:embed="rId3">
            <a:alphaModFix/>
          </a:blip>
          <a:stretch>
            <a:fillRect/>
          </a:stretch>
        </p:blipFill>
        <p:spPr>
          <a:xfrm>
            <a:off x="1229775" y="3317216"/>
            <a:ext cx="796950" cy="464875"/>
          </a:xfrm>
          <a:prstGeom prst="rect">
            <a:avLst/>
          </a:prstGeom>
          <a:noFill/>
          <a:ln>
            <a:noFill/>
          </a:ln>
        </p:spPr>
      </p:pic>
      <p:pic>
        <p:nvPicPr>
          <p:cNvPr id="110" name="Google Shape;110;p17"/>
          <p:cNvPicPr preferRelativeResize="0"/>
          <p:nvPr/>
        </p:nvPicPr>
        <p:blipFill>
          <a:blip r:embed="rId4">
            <a:alphaModFix/>
          </a:blip>
          <a:stretch>
            <a:fillRect/>
          </a:stretch>
        </p:blipFill>
        <p:spPr>
          <a:xfrm>
            <a:off x="3686075" y="3357625"/>
            <a:ext cx="1384450" cy="384075"/>
          </a:xfrm>
          <a:prstGeom prst="rect">
            <a:avLst/>
          </a:prstGeom>
          <a:noFill/>
          <a:ln>
            <a:noFill/>
          </a:ln>
        </p:spPr>
      </p:pic>
      <p:pic>
        <p:nvPicPr>
          <p:cNvPr id="111" name="Google Shape;111;p17"/>
          <p:cNvPicPr preferRelativeResize="0"/>
          <p:nvPr/>
        </p:nvPicPr>
        <p:blipFill>
          <a:blip r:embed="rId5">
            <a:alphaModFix/>
          </a:blip>
          <a:stretch>
            <a:fillRect/>
          </a:stretch>
        </p:blipFill>
        <p:spPr>
          <a:xfrm>
            <a:off x="6936000" y="3337425"/>
            <a:ext cx="953200" cy="42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
                                        <p:tgtEl>
                                          <p:spTgt spid="106"/>
                                        </p:tgtEl>
                                      </p:cBhvr>
                                    </p:animEffec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18"/>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Option B –</a:t>
            </a:r>
            <a:r>
              <a:rPr lang="en-GB">
                <a:solidFill>
                  <a:schemeClr val="lt1"/>
                </a:solidFill>
              </a:rPr>
              <a:t> </a:t>
            </a:r>
            <a:r>
              <a:rPr lang="en-GB">
                <a:solidFill>
                  <a:schemeClr val="accent5"/>
                </a:solidFill>
              </a:rPr>
              <a:t>ACES </a:t>
            </a:r>
            <a:r>
              <a:rPr lang="en-GB">
                <a:solidFill>
                  <a:schemeClr val="accent6"/>
                </a:solidFill>
              </a:rPr>
              <a:t>Foundation</a:t>
            </a:r>
            <a:endParaRPr>
              <a:solidFill>
                <a:schemeClr val="accent6"/>
              </a:solidFill>
            </a:endParaRPr>
          </a:p>
        </p:txBody>
      </p:sp>
      <p:grpSp>
        <p:nvGrpSpPr>
          <p:cNvPr id="117" name="Google Shape;117;p18"/>
          <p:cNvGrpSpPr/>
          <p:nvPr/>
        </p:nvGrpSpPr>
        <p:grpSpPr>
          <a:xfrm>
            <a:off x="3132600" y="3086206"/>
            <a:ext cx="2880000" cy="1800000"/>
            <a:chOff x="3042000" y="3380781"/>
            <a:chExt cx="2880000" cy="1800000"/>
          </a:xfrm>
        </p:grpSpPr>
        <p:sp>
          <p:nvSpPr>
            <p:cNvPr id="118" name="Google Shape;118;p18"/>
            <p:cNvSpPr txBox="1"/>
            <p:nvPr/>
          </p:nvSpPr>
          <p:spPr>
            <a:xfrm>
              <a:off x="3042000" y="3380781"/>
              <a:ext cx="2880000" cy="1800000"/>
            </a:xfrm>
            <a:prstGeom prst="rect">
              <a:avLst/>
            </a:prstGeom>
            <a:solidFill>
              <a:schemeClr val="lt1"/>
            </a:solidFill>
            <a:ln cap="flat" cmpd="sng" w="3810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IP</a:t>
              </a:r>
              <a:endParaRPr b="1"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ACES protocol Open Source </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P</a:t>
              </a:r>
              <a:r>
                <a:rPr lang="en-GB" sz="1600">
                  <a:solidFill>
                    <a:schemeClr val="dk1"/>
                  </a:solidFill>
                  <a:highlight>
                    <a:schemeClr val="lt1"/>
                  </a:highlight>
                </a:rPr>
                <a:t>ermissive</a:t>
              </a:r>
              <a:r>
                <a:rPr lang="en-GB" sz="1600">
                  <a:solidFill>
                    <a:schemeClr val="dk1"/>
                  </a:solidFill>
                  <a:highlight>
                    <a:schemeClr val="lt1"/>
                  </a:highlight>
                </a:rPr>
                <a:t> license</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IP owned by foundation</a:t>
              </a:r>
              <a:endParaRPr sz="1600">
                <a:solidFill>
                  <a:schemeClr val="dk1"/>
                </a:solidFill>
                <a:highlight>
                  <a:schemeClr val="lt1"/>
                </a:highlight>
              </a:endParaRPr>
            </a:p>
            <a:p>
              <a:pPr indent="0" lvl="0" marL="0" rtl="0" algn="l">
                <a:lnSpc>
                  <a:spcPct val="115000"/>
                </a:lnSpc>
                <a:spcBef>
                  <a:spcPts val="1200"/>
                </a:spcBef>
                <a:spcAft>
                  <a:spcPts val="1200"/>
                </a:spcAft>
                <a:buNone/>
              </a:pPr>
              <a:br>
                <a:rPr lang="en-GB" sz="1600">
                  <a:solidFill>
                    <a:schemeClr val="dk1"/>
                  </a:solidFill>
                  <a:highlight>
                    <a:schemeClr val="lt1"/>
                  </a:highlight>
                </a:rPr>
              </a:br>
              <a:endParaRPr sz="1600">
                <a:solidFill>
                  <a:schemeClr val="dk1"/>
                </a:solidFill>
                <a:highlight>
                  <a:schemeClr val="lt1"/>
                </a:highlight>
              </a:endParaRPr>
            </a:p>
          </p:txBody>
        </p:sp>
        <p:pic>
          <p:nvPicPr>
            <p:cNvPr id="119" name="Google Shape;119;p18" title="ip.png"/>
            <p:cNvPicPr preferRelativeResize="0"/>
            <p:nvPr/>
          </p:nvPicPr>
          <p:blipFill>
            <a:blip r:embed="rId3">
              <a:alphaModFix/>
            </a:blip>
            <a:stretch>
              <a:fillRect/>
            </a:stretch>
          </p:blipFill>
          <p:spPr>
            <a:xfrm>
              <a:off x="5478150" y="3456975"/>
              <a:ext cx="372600" cy="360000"/>
            </a:xfrm>
            <a:prstGeom prst="rect">
              <a:avLst/>
            </a:prstGeom>
            <a:noFill/>
            <a:ln>
              <a:noFill/>
            </a:ln>
          </p:spPr>
        </p:pic>
      </p:grpSp>
      <p:grpSp>
        <p:nvGrpSpPr>
          <p:cNvPr id="120" name="Google Shape;120;p18"/>
          <p:cNvGrpSpPr/>
          <p:nvPr/>
        </p:nvGrpSpPr>
        <p:grpSpPr>
          <a:xfrm>
            <a:off x="90600" y="798350"/>
            <a:ext cx="2880000" cy="1800000"/>
            <a:chOff x="0" y="798350"/>
            <a:chExt cx="2880000" cy="1800000"/>
          </a:xfrm>
        </p:grpSpPr>
        <p:sp>
          <p:nvSpPr>
            <p:cNvPr id="121" name="Google Shape;121;p18"/>
            <p:cNvSpPr txBox="1"/>
            <p:nvPr/>
          </p:nvSpPr>
          <p:spPr>
            <a:xfrm>
              <a:off x="0" y="798350"/>
              <a:ext cx="2880000" cy="1800000"/>
            </a:xfrm>
            <a:prstGeom prst="rect">
              <a:avLst/>
            </a:prstGeom>
            <a:solidFill>
              <a:schemeClr val="lt1"/>
            </a:solidFill>
            <a:ln cap="flat" cmpd="sng" w="38100">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Legal form</a:t>
              </a:r>
              <a:endParaRPr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Non-profit association</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AISBL, e.V.</a:t>
              </a:r>
              <a:br>
                <a:rPr lang="en-GB" sz="1600">
                  <a:solidFill>
                    <a:schemeClr val="dk1"/>
                  </a:solidFill>
                  <a:highlight>
                    <a:schemeClr val="lt1"/>
                  </a:highlight>
                </a:rPr>
              </a:br>
              <a:endParaRPr sz="1600">
                <a:solidFill>
                  <a:schemeClr val="dk1"/>
                </a:solidFill>
                <a:highlight>
                  <a:schemeClr val="lt1"/>
                </a:highlight>
              </a:endParaRPr>
            </a:p>
          </p:txBody>
        </p:sp>
        <p:pic>
          <p:nvPicPr>
            <p:cNvPr id="122" name="Google Shape;122;p18" title="legal.png"/>
            <p:cNvPicPr preferRelativeResize="0"/>
            <p:nvPr/>
          </p:nvPicPr>
          <p:blipFill>
            <a:blip r:embed="rId4">
              <a:alphaModFix/>
            </a:blip>
            <a:stretch>
              <a:fillRect/>
            </a:stretch>
          </p:blipFill>
          <p:spPr>
            <a:xfrm>
              <a:off x="2406000" y="874550"/>
              <a:ext cx="372600" cy="360000"/>
            </a:xfrm>
            <a:prstGeom prst="rect">
              <a:avLst/>
            </a:prstGeom>
            <a:noFill/>
            <a:ln>
              <a:noFill/>
            </a:ln>
          </p:spPr>
        </p:pic>
      </p:grpSp>
      <p:grpSp>
        <p:nvGrpSpPr>
          <p:cNvPr id="123" name="Google Shape;123;p18"/>
          <p:cNvGrpSpPr/>
          <p:nvPr/>
        </p:nvGrpSpPr>
        <p:grpSpPr>
          <a:xfrm>
            <a:off x="3132600" y="798350"/>
            <a:ext cx="2880000" cy="1800000"/>
            <a:chOff x="2997000" y="1170000"/>
            <a:chExt cx="2880000" cy="1800000"/>
          </a:xfrm>
        </p:grpSpPr>
        <p:sp>
          <p:nvSpPr>
            <p:cNvPr id="124" name="Google Shape;124;p18"/>
            <p:cNvSpPr txBox="1"/>
            <p:nvPr/>
          </p:nvSpPr>
          <p:spPr>
            <a:xfrm>
              <a:off x="2997000" y="1170000"/>
              <a:ext cx="2880000" cy="1800000"/>
            </a:xfrm>
            <a:prstGeom prst="rect">
              <a:avLst/>
            </a:prstGeom>
            <a:solidFill>
              <a:schemeClr val="lt1"/>
            </a:solidFill>
            <a:ln cap="flat" cmpd="sng" w="3810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Governance</a:t>
              </a:r>
              <a:r>
                <a:rPr lang="en-GB" sz="1600">
                  <a:solidFill>
                    <a:schemeClr val="dk1"/>
                  </a:solidFill>
                  <a:highlight>
                    <a:schemeClr val="lt1"/>
                  </a:highlight>
                </a:rPr>
                <a:t> </a:t>
              </a:r>
              <a:endParaRPr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Member-based</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O</a:t>
              </a:r>
              <a:r>
                <a:rPr lang="en-GB" sz="1600">
                  <a:solidFill>
                    <a:schemeClr val="dk1"/>
                  </a:solidFill>
                  <a:highlight>
                    <a:schemeClr val="lt1"/>
                  </a:highlight>
                </a:rPr>
                <a:t>ne-member-one-vote </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Committee-driven</a:t>
              </a:r>
              <a:br>
                <a:rPr lang="en-GB" sz="1600">
                  <a:solidFill>
                    <a:schemeClr val="dk1"/>
                  </a:solidFill>
                  <a:highlight>
                    <a:schemeClr val="lt1"/>
                  </a:highlight>
                </a:rPr>
              </a:br>
              <a:endParaRPr sz="1600">
                <a:solidFill>
                  <a:schemeClr val="dk1"/>
                </a:solidFill>
                <a:highlight>
                  <a:schemeClr val="lt1"/>
                </a:highlight>
              </a:endParaRPr>
            </a:p>
          </p:txBody>
        </p:sp>
        <p:pic>
          <p:nvPicPr>
            <p:cNvPr id="125" name="Google Shape;125;p18" title="ownership.png"/>
            <p:cNvPicPr preferRelativeResize="0"/>
            <p:nvPr/>
          </p:nvPicPr>
          <p:blipFill>
            <a:blip r:embed="rId5">
              <a:alphaModFix/>
            </a:blip>
            <a:stretch>
              <a:fillRect/>
            </a:stretch>
          </p:blipFill>
          <p:spPr>
            <a:xfrm>
              <a:off x="5433150" y="1246200"/>
              <a:ext cx="372600" cy="360000"/>
            </a:xfrm>
            <a:prstGeom prst="rect">
              <a:avLst/>
            </a:prstGeom>
            <a:noFill/>
            <a:ln>
              <a:noFill/>
            </a:ln>
          </p:spPr>
        </p:pic>
      </p:grpSp>
      <p:grpSp>
        <p:nvGrpSpPr>
          <p:cNvPr id="126" name="Google Shape;126;p18"/>
          <p:cNvGrpSpPr/>
          <p:nvPr/>
        </p:nvGrpSpPr>
        <p:grpSpPr>
          <a:xfrm>
            <a:off x="6174600" y="798350"/>
            <a:ext cx="2880000" cy="1800000"/>
            <a:chOff x="6084000" y="1518350"/>
            <a:chExt cx="2880000" cy="1800000"/>
          </a:xfrm>
        </p:grpSpPr>
        <p:sp>
          <p:nvSpPr>
            <p:cNvPr id="127" name="Google Shape;127;p18"/>
            <p:cNvSpPr txBox="1"/>
            <p:nvPr/>
          </p:nvSpPr>
          <p:spPr>
            <a:xfrm>
              <a:off x="6084000" y="1518350"/>
              <a:ext cx="2880000" cy="1800000"/>
            </a:xfrm>
            <a:prstGeom prst="rect">
              <a:avLst/>
            </a:prstGeom>
            <a:solidFill>
              <a:schemeClr val="lt1"/>
            </a:solidFill>
            <a:ln cap="flat" cmpd="sng" w="38100">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Revenue streams</a:t>
              </a:r>
              <a:endParaRPr b="1"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Consulting</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Certification</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ACES-compatible products and services</a:t>
              </a:r>
              <a:endParaRPr sz="1600">
                <a:solidFill>
                  <a:schemeClr val="dk1"/>
                </a:solidFill>
                <a:highlight>
                  <a:schemeClr val="lt1"/>
                </a:highlight>
              </a:endParaRPr>
            </a:p>
            <a:p>
              <a:pPr indent="0" lvl="0" marL="0" rtl="0" algn="l">
                <a:lnSpc>
                  <a:spcPct val="115000"/>
                </a:lnSpc>
                <a:spcBef>
                  <a:spcPts val="1200"/>
                </a:spcBef>
                <a:spcAft>
                  <a:spcPts val="1200"/>
                </a:spcAft>
                <a:buNone/>
              </a:pPr>
              <a:br>
                <a:rPr lang="en-GB" sz="1600">
                  <a:solidFill>
                    <a:schemeClr val="dk1"/>
                  </a:solidFill>
                  <a:highlight>
                    <a:schemeClr val="lt1"/>
                  </a:highlight>
                </a:rPr>
              </a:br>
              <a:endParaRPr sz="1600">
                <a:solidFill>
                  <a:schemeClr val="dk1"/>
                </a:solidFill>
                <a:highlight>
                  <a:schemeClr val="lt1"/>
                </a:highlight>
              </a:endParaRPr>
            </a:p>
          </p:txBody>
        </p:sp>
        <p:pic>
          <p:nvPicPr>
            <p:cNvPr id="128" name="Google Shape;128;p18" title="revenue.png"/>
            <p:cNvPicPr preferRelativeResize="0"/>
            <p:nvPr/>
          </p:nvPicPr>
          <p:blipFill>
            <a:blip r:embed="rId6">
              <a:alphaModFix/>
            </a:blip>
            <a:stretch>
              <a:fillRect/>
            </a:stretch>
          </p:blipFill>
          <p:spPr>
            <a:xfrm>
              <a:off x="8515200" y="1594550"/>
              <a:ext cx="372600" cy="360000"/>
            </a:xfrm>
            <a:prstGeom prst="rect">
              <a:avLst/>
            </a:prstGeom>
            <a:noFill/>
            <a:ln>
              <a:noFill/>
            </a:ln>
          </p:spPr>
        </p:pic>
      </p:grpSp>
      <p:grpSp>
        <p:nvGrpSpPr>
          <p:cNvPr id="129" name="Google Shape;129;p18"/>
          <p:cNvGrpSpPr/>
          <p:nvPr/>
        </p:nvGrpSpPr>
        <p:grpSpPr>
          <a:xfrm>
            <a:off x="6174600" y="3086196"/>
            <a:ext cx="2880000" cy="1800000"/>
            <a:chOff x="6084000" y="3086196"/>
            <a:chExt cx="2880000" cy="1800000"/>
          </a:xfrm>
        </p:grpSpPr>
        <p:sp>
          <p:nvSpPr>
            <p:cNvPr id="130" name="Google Shape;130;p18"/>
            <p:cNvSpPr txBox="1"/>
            <p:nvPr/>
          </p:nvSpPr>
          <p:spPr>
            <a:xfrm>
              <a:off x="6084000" y="3086196"/>
              <a:ext cx="2880000" cy="1800000"/>
            </a:xfrm>
            <a:prstGeom prst="rect">
              <a:avLst/>
            </a:prstGeom>
            <a:solidFill>
              <a:schemeClr val="lt1"/>
            </a:solidFill>
            <a:ln cap="flat" cmpd="sng" w="47625">
              <a:solidFill>
                <a:schemeClr val="accent4"/>
              </a:solidFill>
              <a:prstDash val="solid"/>
              <a:round/>
              <a:headEnd len="sm" w="sm" type="none"/>
              <a:tailEnd len="sm" w="sm" type="none"/>
            </a:ln>
          </p:spPr>
          <p:txBody>
            <a:bodyPr anchorCtr="0" anchor="t" bIns="114275" lIns="114275" spcFirstLastPara="1" rIns="114275" wrap="square" tIns="114275">
              <a:noAutofit/>
            </a:bodyPr>
            <a:lstStyle/>
            <a:p>
              <a:pPr indent="0" lvl="0" marL="0" rtl="0" algn="l">
                <a:lnSpc>
                  <a:spcPct val="115000"/>
                </a:lnSpc>
                <a:spcBef>
                  <a:spcPts val="1500"/>
                </a:spcBef>
                <a:spcAft>
                  <a:spcPts val="0"/>
                </a:spcAft>
                <a:buNone/>
              </a:pPr>
              <a:r>
                <a:rPr b="1" lang="en-GB" sz="1600">
                  <a:solidFill>
                    <a:schemeClr val="dk1"/>
                  </a:solidFill>
                  <a:highlight>
                    <a:schemeClr val="lt1"/>
                  </a:highlight>
                </a:rPr>
                <a:t>Main risks</a:t>
              </a:r>
              <a:endParaRPr sz="1600">
                <a:solidFill>
                  <a:schemeClr val="dk1"/>
                </a:solidFill>
                <a:highlight>
                  <a:schemeClr val="lt1"/>
                </a:highlight>
              </a:endParaRPr>
            </a:p>
            <a:p>
              <a:pPr indent="-330200" lvl="0" marL="457200" rtl="0" algn="l">
                <a:lnSpc>
                  <a:spcPct val="115000"/>
                </a:lnSpc>
                <a:spcBef>
                  <a:spcPts val="1500"/>
                </a:spcBef>
                <a:spcAft>
                  <a:spcPts val="0"/>
                </a:spcAft>
                <a:buClr>
                  <a:schemeClr val="dk1"/>
                </a:buClr>
                <a:buSzPts val="1600"/>
                <a:buChar char="●"/>
              </a:pPr>
              <a:r>
                <a:rPr lang="en-GB" sz="1600">
                  <a:solidFill>
                    <a:schemeClr val="dk1"/>
                  </a:solidFill>
                  <a:highlight>
                    <a:schemeClr val="lt1"/>
                  </a:highlight>
                </a:rPr>
                <a:t>No direct IP revenue</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Competitors can leverage ACES</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Slower decision-making</a:t>
              </a:r>
              <a:endParaRPr sz="1600">
                <a:solidFill>
                  <a:schemeClr val="dk1"/>
                </a:solidFill>
                <a:highlight>
                  <a:schemeClr val="lt1"/>
                </a:highlight>
              </a:endParaRPr>
            </a:p>
            <a:p>
              <a:pPr indent="0" lvl="0" marL="0" rtl="0" algn="l">
                <a:lnSpc>
                  <a:spcPct val="115000"/>
                </a:lnSpc>
                <a:spcBef>
                  <a:spcPts val="1500"/>
                </a:spcBef>
                <a:spcAft>
                  <a:spcPts val="1500"/>
                </a:spcAft>
                <a:buNone/>
              </a:pPr>
              <a:r>
                <a:t/>
              </a:r>
              <a:endParaRPr sz="1600">
                <a:solidFill>
                  <a:schemeClr val="dk1"/>
                </a:solidFill>
                <a:highlight>
                  <a:schemeClr val="lt1"/>
                </a:highlight>
              </a:endParaRPr>
            </a:p>
          </p:txBody>
        </p:sp>
        <p:pic>
          <p:nvPicPr>
            <p:cNvPr id="131" name="Google Shape;131;p18" title="risk.png"/>
            <p:cNvPicPr preferRelativeResize="0"/>
            <p:nvPr/>
          </p:nvPicPr>
          <p:blipFill>
            <a:blip r:embed="rId7">
              <a:alphaModFix/>
            </a:blip>
            <a:stretch>
              <a:fillRect/>
            </a:stretch>
          </p:blipFill>
          <p:spPr>
            <a:xfrm>
              <a:off x="8515200" y="3162400"/>
              <a:ext cx="372600" cy="360000"/>
            </a:xfrm>
            <a:prstGeom prst="rect">
              <a:avLst/>
            </a:prstGeom>
            <a:noFill/>
            <a:ln>
              <a:noFill/>
            </a:ln>
          </p:spPr>
        </p:pic>
      </p:grpSp>
      <p:grpSp>
        <p:nvGrpSpPr>
          <p:cNvPr id="132" name="Google Shape;132;p18"/>
          <p:cNvGrpSpPr/>
          <p:nvPr/>
        </p:nvGrpSpPr>
        <p:grpSpPr>
          <a:xfrm>
            <a:off x="90600" y="3086199"/>
            <a:ext cx="2880000" cy="1800000"/>
            <a:chOff x="0" y="3086199"/>
            <a:chExt cx="2880000" cy="1800000"/>
          </a:xfrm>
        </p:grpSpPr>
        <p:sp>
          <p:nvSpPr>
            <p:cNvPr id="133" name="Google Shape;133;p18"/>
            <p:cNvSpPr txBox="1"/>
            <p:nvPr/>
          </p:nvSpPr>
          <p:spPr>
            <a:xfrm>
              <a:off x="0" y="3086199"/>
              <a:ext cx="2880000" cy="1800000"/>
            </a:xfrm>
            <a:prstGeom prst="rect">
              <a:avLst/>
            </a:prstGeom>
            <a:solidFill>
              <a:schemeClr val="lt1"/>
            </a:solidFill>
            <a:ln cap="flat" cmpd="sng" w="3810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600">
                  <a:solidFill>
                    <a:schemeClr val="dk1"/>
                  </a:solidFill>
                  <a:highlight>
                    <a:schemeClr val="lt1"/>
                  </a:highlight>
                </a:rPr>
                <a:t>Strategic benefits</a:t>
              </a:r>
              <a:endParaRPr b="1" sz="1600">
                <a:solidFill>
                  <a:schemeClr val="dk1"/>
                </a:solidFill>
                <a:highlight>
                  <a:schemeClr val="lt1"/>
                </a:highlight>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highlight>
                    <a:schemeClr val="lt1"/>
                  </a:highlight>
                </a:rPr>
                <a:t>Broad adoption</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Credibility (public sector)</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Ecosystem growth</a:t>
              </a:r>
              <a:endParaRPr sz="1600">
                <a:solidFill>
                  <a:schemeClr val="dk1"/>
                </a:solidFill>
                <a:highlight>
                  <a:schemeClr val="lt1"/>
                </a:highlight>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highlight>
                    <a:schemeClr val="lt1"/>
                  </a:highlight>
                </a:rPr>
                <a:t>Faster innovation</a:t>
              </a:r>
              <a:endParaRPr sz="1600">
                <a:solidFill>
                  <a:schemeClr val="dk1"/>
                </a:solidFill>
                <a:highlight>
                  <a:schemeClr val="lt1"/>
                </a:highlight>
              </a:endParaRPr>
            </a:p>
          </p:txBody>
        </p:sp>
        <p:pic>
          <p:nvPicPr>
            <p:cNvPr id="134" name="Google Shape;134;p18" title="strategic_benefits.png"/>
            <p:cNvPicPr preferRelativeResize="0"/>
            <p:nvPr/>
          </p:nvPicPr>
          <p:blipFill>
            <a:blip r:embed="rId8">
              <a:alphaModFix/>
            </a:blip>
            <a:stretch>
              <a:fillRect/>
            </a:stretch>
          </p:blipFill>
          <p:spPr>
            <a:xfrm>
              <a:off x="2431200" y="3204854"/>
              <a:ext cx="372600" cy="463917"/>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solidFill>
                  <a:schemeClr val="accent5"/>
                </a:solidFill>
              </a:rPr>
              <a:t>Open</a:t>
            </a:r>
            <a:r>
              <a:rPr lang="en-GB"/>
              <a:t> European Precedents</a:t>
            </a:r>
            <a:endParaRPr/>
          </a:p>
        </p:txBody>
      </p:sp>
      <p:sp>
        <p:nvSpPr>
          <p:cNvPr id="140" name="Google Shape;140;p19"/>
          <p:cNvSpPr txBox="1"/>
          <p:nvPr>
            <p:ph idx="1" type="body"/>
          </p:nvPr>
        </p:nvSpPr>
        <p:spPr>
          <a:xfrm>
            <a:off x="0" y="643500"/>
            <a:ext cx="3060000" cy="450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sz="1600">
                <a:solidFill>
                  <a:schemeClr val="accent5"/>
                </a:solidFill>
              </a:rPr>
              <a:t>KNX Association </a:t>
            </a:r>
            <a:endParaRPr b="1" sz="1600">
              <a:solidFill>
                <a:schemeClr val="accent5"/>
              </a:solidFill>
            </a:endParaRPr>
          </a:p>
          <a:p>
            <a:pPr indent="0" lvl="0" marL="0" rtl="0" algn="ctr">
              <a:spcBef>
                <a:spcPts val="0"/>
              </a:spcBef>
              <a:spcAft>
                <a:spcPts val="0"/>
              </a:spcAft>
              <a:buClr>
                <a:schemeClr val="dk1"/>
              </a:buClr>
              <a:buSzPts val="1100"/>
              <a:buFont typeface="Arial"/>
              <a:buNone/>
            </a:pPr>
            <a:r>
              <a:rPr lang="en-GB" sz="1600">
                <a:solidFill>
                  <a:schemeClr val="accent5"/>
                </a:solidFill>
              </a:rPr>
              <a:t>(Belgium) </a:t>
            </a:r>
            <a:endParaRPr sz="1600">
              <a:solidFill>
                <a:schemeClr val="accent5"/>
              </a:solidFill>
            </a:endParaRPr>
          </a:p>
          <a:p>
            <a:pPr indent="0" lvl="0" marL="0" rtl="0" algn="ctr">
              <a:spcBef>
                <a:spcPts val="0"/>
              </a:spcBef>
              <a:spcAft>
                <a:spcPts val="0"/>
              </a:spcAft>
              <a:buClr>
                <a:schemeClr val="dk1"/>
              </a:buClr>
              <a:buSzPts val="1100"/>
              <a:buFont typeface="Arial"/>
              <a:buNone/>
            </a:pPr>
            <a:r>
              <a:rPr b="1" lang="en-GB" sz="1300">
                <a:solidFill>
                  <a:schemeClr val="accent5"/>
                </a:solidFill>
              </a:rPr>
              <a:t>Full Success</a:t>
            </a:r>
            <a:endParaRPr b="1" sz="1300">
              <a:solidFill>
                <a:schemeClr val="accent5"/>
              </a:solidFill>
            </a:endParaRPr>
          </a:p>
          <a:p>
            <a:pPr indent="0" lvl="0" marL="0" rtl="0" algn="ctr">
              <a:spcBef>
                <a:spcPts val="0"/>
              </a:spcBef>
              <a:spcAft>
                <a:spcPts val="0"/>
              </a:spcAft>
              <a:buClr>
                <a:schemeClr val="dk1"/>
              </a:buClr>
              <a:buSzPts val="1100"/>
              <a:buFont typeface="Arial"/>
              <a:buNone/>
            </a:pPr>
            <a:r>
              <a:t/>
            </a:r>
            <a:endParaRPr b="1" sz="1300">
              <a:solidFill>
                <a:schemeClr val="accent5"/>
              </a:solidFill>
            </a:endParaRPr>
          </a:p>
          <a:p>
            <a:pPr indent="-311150" lvl="0" marL="457200" rtl="0" algn="l">
              <a:spcBef>
                <a:spcPts val="0"/>
              </a:spcBef>
              <a:spcAft>
                <a:spcPts val="0"/>
              </a:spcAft>
              <a:buClr>
                <a:schemeClr val="dk1"/>
              </a:buClr>
              <a:buSzPts val="1300"/>
              <a:buChar char="●"/>
            </a:pPr>
            <a:r>
              <a:rPr lang="en-GB" sz="1300">
                <a:solidFill>
                  <a:schemeClr val="dk1"/>
                </a:solidFill>
              </a:rPr>
              <a:t>Founded in 1999 as non-profit cooperative (cvba)</a:t>
            </a: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Published royalty-free building automation standard (EN 50090, ISO/IEC 14543)</a:t>
            </a: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500+ manufacturer members, 100,000+ certified installers in 172 countries</a:t>
            </a:r>
            <a:endParaRPr sz="1300">
              <a:solidFill>
                <a:schemeClr val="dk1"/>
              </a:solidFill>
            </a:endParaRPr>
          </a:p>
          <a:p>
            <a:pPr indent="0" lvl="0" marL="457200" rtl="0" algn="l">
              <a:spcBef>
                <a:spcPts val="0"/>
              </a:spcBef>
              <a:spcAft>
                <a:spcPts val="0"/>
              </a:spcAft>
              <a:buNone/>
            </a:pPr>
            <a:r>
              <a:t/>
            </a:r>
            <a:endParaRPr i="1" sz="1300">
              <a:solidFill>
                <a:schemeClr val="dk1"/>
              </a:solidFill>
            </a:endParaRPr>
          </a:p>
          <a:p>
            <a:pPr indent="0" lvl="0" marL="457200" rtl="0" algn="l">
              <a:spcBef>
                <a:spcPts val="0"/>
              </a:spcBef>
              <a:spcAft>
                <a:spcPts val="0"/>
              </a:spcAft>
              <a:buNone/>
            </a:pPr>
            <a:r>
              <a:t/>
            </a:r>
            <a:endParaRPr i="1" sz="1300">
              <a:solidFill>
                <a:schemeClr val="dk1"/>
              </a:solidFill>
            </a:endParaRPr>
          </a:p>
          <a:p>
            <a:pPr indent="0" lvl="0" marL="457200" rtl="0" algn="l">
              <a:spcBef>
                <a:spcPts val="0"/>
              </a:spcBef>
              <a:spcAft>
                <a:spcPts val="0"/>
              </a:spcAft>
              <a:buNone/>
            </a:pPr>
            <a:r>
              <a:rPr i="1" lang="en-GB" sz="1300">
                <a:solidFill>
                  <a:schemeClr val="dk1"/>
                </a:solidFill>
              </a:rPr>
              <a:t>Lesson: open governance sustained global adoption and long-term ecosystem</a:t>
            </a:r>
            <a:endParaRPr i="1" sz="1300">
              <a:solidFill>
                <a:schemeClr val="dk1"/>
              </a:solidFill>
            </a:endParaRPr>
          </a:p>
          <a:p>
            <a:pPr indent="0" lvl="0" marL="0" rtl="0" algn="l">
              <a:spcBef>
                <a:spcPts val="0"/>
              </a:spcBef>
              <a:spcAft>
                <a:spcPts val="1200"/>
              </a:spcAft>
              <a:buNone/>
            </a:pPr>
            <a:r>
              <a:t/>
            </a:r>
            <a:endParaRPr/>
          </a:p>
        </p:txBody>
      </p:sp>
      <p:sp>
        <p:nvSpPr>
          <p:cNvPr id="141" name="Google Shape;141;p19"/>
          <p:cNvSpPr txBox="1"/>
          <p:nvPr/>
        </p:nvSpPr>
        <p:spPr>
          <a:xfrm>
            <a:off x="3042000" y="643500"/>
            <a:ext cx="3060000" cy="4500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GB" sz="1600">
                <a:solidFill>
                  <a:schemeClr val="accent3"/>
                </a:solidFill>
              </a:rPr>
              <a:t>LF Edge </a:t>
            </a:r>
            <a:endParaRPr b="1" sz="1600">
              <a:solidFill>
                <a:schemeClr val="accent3"/>
              </a:solidFill>
            </a:endParaRPr>
          </a:p>
          <a:p>
            <a:pPr indent="0" lvl="0" marL="0" rtl="0" algn="ctr">
              <a:lnSpc>
                <a:spcPct val="115000"/>
              </a:lnSpc>
              <a:spcBef>
                <a:spcPts val="0"/>
              </a:spcBef>
              <a:spcAft>
                <a:spcPts val="0"/>
              </a:spcAft>
              <a:buNone/>
            </a:pPr>
            <a:r>
              <a:rPr lang="en-GB" sz="1600">
                <a:solidFill>
                  <a:schemeClr val="accent3"/>
                </a:solidFill>
              </a:rPr>
              <a:t>(Global, EU Members)</a:t>
            </a:r>
            <a:endParaRPr sz="1600">
              <a:solidFill>
                <a:schemeClr val="accent3"/>
              </a:solidFill>
            </a:endParaRPr>
          </a:p>
          <a:p>
            <a:pPr indent="0" lvl="0" marL="0" rtl="0" algn="ctr">
              <a:lnSpc>
                <a:spcPct val="115000"/>
              </a:lnSpc>
              <a:spcBef>
                <a:spcPts val="0"/>
              </a:spcBef>
              <a:spcAft>
                <a:spcPts val="0"/>
              </a:spcAft>
              <a:buNone/>
            </a:pPr>
            <a:r>
              <a:rPr b="1" lang="en-GB" sz="1300">
                <a:solidFill>
                  <a:schemeClr val="accent3"/>
                </a:solidFill>
              </a:rPr>
              <a:t> Partial Success</a:t>
            </a:r>
            <a:endParaRPr b="1" sz="1300">
              <a:solidFill>
                <a:schemeClr val="accent3"/>
              </a:solidFill>
            </a:endParaRPr>
          </a:p>
          <a:p>
            <a:pPr indent="0" lvl="0" marL="0" rtl="0" algn="ctr">
              <a:lnSpc>
                <a:spcPct val="115000"/>
              </a:lnSpc>
              <a:spcBef>
                <a:spcPts val="0"/>
              </a:spcBef>
              <a:spcAft>
                <a:spcPts val="0"/>
              </a:spcAft>
              <a:buNone/>
            </a:pPr>
            <a:r>
              <a:t/>
            </a:r>
            <a:endParaRPr b="1" sz="1300">
              <a:solidFill>
                <a:schemeClr val="accent3"/>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Open foundation for edge computing (part of Linux Foundation)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Backed by major vendors </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Faced issues with governance complexity, uneven contributions, reliance on few core actors</a:t>
            </a:r>
            <a:endParaRPr sz="1300">
              <a:solidFill>
                <a:schemeClr val="dk1"/>
              </a:solidFill>
            </a:endParaRPr>
          </a:p>
          <a:p>
            <a:pPr indent="0" lvl="0" marL="457200" rtl="0" algn="l">
              <a:lnSpc>
                <a:spcPct val="115000"/>
              </a:lnSpc>
              <a:spcBef>
                <a:spcPts val="0"/>
              </a:spcBef>
              <a:spcAft>
                <a:spcPts val="0"/>
              </a:spcAft>
              <a:buNone/>
            </a:pPr>
            <a:r>
              <a:t/>
            </a:r>
            <a:endParaRPr sz="1300">
              <a:solidFill>
                <a:schemeClr val="dk1"/>
              </a:solidFill>
            </a:endParaRPr>
          </a:p>
          <a:p>
            <a:pPr indent="0" lvl="0" marL="45720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i="1" lang="en-GB" sz="1300">
                <a:solidFill>
                  <a:schemeClr val="dk1"/>
                </a:solidFill>
              </a:rPr>
              <a:t>Lesson: open foundations can stall if funding and community engagement are fragile</a:t>
            </a:r>
            <a:endParaRPr i="1" sz="1300">
              <a:solidFill>
                <a:schemeClr val="dk1"/>
              </a:solidFill>
            </a:endParaRPr>
          </a:p>
        </p:txBody>
      </p:sp>
      <p:sp>
        <p:nvSpPr>
          <p:cNvPr id="142" name="Google Shape;142;p19"/>
          <p:cNvSpPr txBox="1"/>
          <p:nvPr/>
        </p:nvSpPr>
        <p:spPr>
          <a:xfrm>
            <a:off x="6084000" y="643500"/>
            <a:ext cx="3060000" cy="4500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GB" sz="1600">
                <a:solidFill>
                  <a:schemeClr val="accent4"/>
                </a:solidFill>
                <a:highlight>
                  <a:schemeClr val="lt1"/>
                </a:highlight>
              </a:rPr>
              <a:t>FIWARE Foundation </a:t>
            </a:r>
            <a:r>
              <a:rPr lang="en-GB" sz="1600">
                <a:solidFill>
                  <a:schemeClr val="accent4"/>
                </a:solidFill>
                <a:highlight>
                  <a:schemeClr val="lt1"/>
                </a:highlight>
              </a:rPr>
              <a:t>(Germany)</a:t>
            </a:r>
            <a:endParaRPr sz="1600">
              <a:solidFill>
                <a:schemeClr val="accent4"/>
              </a:solidFill>
              <a:highlight>
                <a:schemeClr val="lt1"/>
              </a:highlight>
            </a:endParaRPr>
          </a:p>
          <a:p>
            <a:pPr indent="0" lvl="0" marL="0" rtl="0" algn="ctr">
              <a:lnSpc>
                <a:spcPct val="115000"/>
              </a:lnSpc>
              <a:spcBef>
                <a:spcPts val="0"/>
              </a:spcBef>
              <a:spcAft>
                <a:spcPts val="0"/>
              </a:spcAft>
              <a:buNone/>
            </a:pPr>
            <a:r>
              <a:rPr b="1" lang="en-GB" sz="1300">
                <a:solidFill>
                  <a:schemeClr val="accent4"/>
                </a:solidFill>
                <a:highlight>
                  <a:schemeClr val="lt1"/>
                </a:highlight>
              </a:rPr>
              <a:t>Gaining Traction</a:t>
            </a:r>
            <a:endParaRPr b="1" sz="1300">
              <a:solidFill>
                <a:schemeClr val="accent4"/>
              </a:solidFill>
              <a:highlight>
                <a:schemeClr val="lt1"/>
              </a:highlight>
            </a:endParaRPr>
          </a:p>
          <a:p>
            <a:pPr indent="0" lvl="0" marL="0" rtl="0" algn="ctr">
              <a:lnSpc>
                <a:spcPct val="115000"/>
              </a:lnSpc>
              <a:spcBef>
                <a:spcPts val="0"/>
              </a:spcBef>
              <a:spcAft>
                <a:spcPts val="0"/>
              </a:spcAft>
              <a:buNone/>
            </a:pPr>
            <a:r>
              <a:t/>
            </a:r>
            <a:endParaRPr b="1" sz="1300">
              <a:solidFill>
                <a:schemeClr val="accent4"/>
              </a:solidFill>
              <a:highlight>
                <a:schemeClr val="lt1"/>
              </a:highlight>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Established 2016 as non-profit e.V.</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Provides open APIs (NGSI-LD) and Smart Data Models for IoT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Adopted by 350+ cities, growing developer ecosystem</a:t>
            </a:r>
            <a:endParaRPr i="1" sz="1300">
              <a:solidFill>
                <a:schemeClr val="dk1"/>
              </a:solidFill>
            </a:endParaRPr>
          </a:p>
          <a:p>
            <a:pPr indent="0" lvl="0" marL="457200" rtl="0" algn="l">
              <a:lnSpc>
                <a:spcPct val="115000"/>
              </a:lnSpc>
              <a:spcBef>
                <a:spcPts val="0"/>
              </a:spcBef>
              <a:spcAft>
                <a:spcPts val="0"/>
              </a:spcAft>
              <a:buNone/>
            </a:pPr>
            <a:r>
              <a:t/>
            </a:r>
            <a:endParaRPr i="1" sz="1300">
              <a:solidFill>
                <a:schemeClr val="dk1"/>
              </a:solidFill>
            </a:endParaRPr>
          </a:p>
          <a:p>
            <a:pPr indent="0" lvl="0" marL="457200" rtl="0" algn="l">
              <a:lnSpc>
                <a:spcPct val="115000"/>
              </a:lnSpc>
              <a:spcBef>
                <a:spcPts val="0"/>
              </a:spcBef>
              <a:spcAft>
                <a:spcPts val="0"/>
              </a:spcAft>
              <a:buNone/>
            </a:pPr>
            <a:r>
              <a:t/>
            </a:r>
            <a:endParaRPr i="1" sz="1300">
              <a:solidFill>
                <a:schemeClr val="dk1"/>
              </a:solidFill>
            </a:endParaRPr>
          </a:p>
          <a:p>
            <a:pPr indent="0" lvl="0" marL="457200" rtl="0" algn="l">
              <a:lnSpc>
                <a:spcPct val="115000"/>
              </a:lnSpc>
              <a:spcBef>
                <a:spcPts val="0"/>
              </a:spcBef>
              <a:spcAft>
                <a:spcPts val="0"/>
              </a:spcAft>
              <a:buNone/>
            </a:pPr>
            <a:r>
              <a:t/>
            </a:r>
            <a:endParaRPr i="1" sz="1300">
              <a:solidFill>
                <a:schemeClr val="dk1"/>
              </a:solidFill>
            </a:endParaRPr>
          </a:p>
          <a:p>
            <a:pPr indent="0" lvl="0" marL="457200" rtl="0" algn="l">
              <a:lnSpc>
                <a:spcPct val="115000"/>
              </a:lnSpc>
              <a:spcBef>
                <a:spcPts val="0"/>
              </a:spcBef>
              <a:spcAft>
                <a:spcPts val="0"/>
              </a:spcAft>
              <a:buNone/>
            </a:pPr>
            <a:r>
              <a:t/>
            </a:r>
            <a:endParaRPr i="1" sz="1300">
              <a:solidFill>
                <a:schemeClr val="dk1"/>
              </a:solidFill>
            </a:endParaRPr>
          </a:p>
          <a:p>
            <a:pPr indent="0" lvl="0" marL="457200" rtl="0" algn="l">
              <a:lnSpc>
                <a:spcPct val="115000"/>
              </a:lnSpc>
              <a:spcBef>
                <a:spcPts val="0"/>
              </a:spcBef>
              <a:spcAft>
                <a:spcPts val="0"/>
              </a:spcAft>
              <a:buNone/>
            </a:pPr>
            <a:r>
              <a:rPr i="1" lang="en-GB" sz="1300">
                <a:solidFill>
                  <a:schemeClr val="dk1"/>
                </a:solidFill>
              </a:rPr>
              <a:t>Lesson: open software standard is expanding across smart cities and agriculture</a:t>
            </a:r>
            <a:endParaRPr i="1" sz="1300">
              <a:solidFill>
                <a:schemeClr val="dk1"/>
              </a:solidFill>
            </a:endParaRPr>
          </a:p>
        </p:txBody>
      </p:sp>
      <p:pic>
        <p:nvPicPr>
          <p:cNvPr id="143" name="Google Shape;143;p19"/>
          <p:cNvPicPr preferRelativeResize="0"/>
          <p:nvPr/>
        </p:nvPicPr>
        <p:blipFill>
          <a:blip r:embed="rId3">
            <a:alphaModFix/>
          </a:blip>
          <a:stretch>
            <a:fillRect/>
          </a:stretch>
        </p:blipFill>
        <p:spPr>
          <a:xfrm>
            <a:off x="1123863" y="3625088"/>
            <a:ext cx="812255" cy="360000"/>
          </a:xfrm>
          <a:prstGeom prst="rect">
            <a:avLst/>
          </a:prstGeom>
          <a:noFill/>
          <a:ln>
            <a:noFill/>
          </a:ln>
        </p:spPr>
      </p:pic>
      <p:pic>
        <p:nvPicPr>
          <p:cNvPr id="144" name="Google Shape;144;p19"/>
          <p:cNvPicPr preferRelativeResize="0"/>
          <p:nvPr/>
        </p:nvPicPr>
        <p:blipFill>
          <a:blip r:embed="rId4">
            <a:alphaModFix/>
          </a:blip>
          <a:stretch>
            <a:fillRect/>
          </a:stretch>
        </p:blipFill>
        <p:spPr>
          <a:xfrm>
            <a:off x="4154075" y="3625104"/>
            <a:ext cx="835832" cy="360000"/>
          </a:xfrm>
          <a:prstGeom prst="rect">
            <a:avLst/>
          </a:prstGeom>
          <a:noFill/>
          <a:ln>
            <a:noFill/>
          </a:ln>
        </p:spPr>
      </p:pic>
      <p:pic>
        <p:nvPicPr>
          <p:cNvPr id="145" name="Google Shape;145;p19"/>
          <p:cNvPicPr preferRelativeResize="0"/>
          <p:nvPr/>
        </p:nvPicPr>
        <p:blipFill>
          <a:blip r:embed="rId5">
            <a:alphaModFix/>
          </a:blip>
          <a:stretch>
            <a:fillRect/>
          </a:stretch>
        </p:blipFill>
        <p:spPr>
          <a:xfrm>
            <a:off x="7396188" y="3625100"/>
            <a:ext cx="435613" cy="36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9" name="Shape 149"/>
        <p:cNvGrpSpPr/>
        <p:nvPr/>
      </p:nvGrpSpPr>
      <p:grpSpPr>
        <a:xfrm>
          <a:off x="0" y="0"/>
          <a:ext cx="0" cy="0"/>
          <a:chOff x="0" y="0"/>
          <a:chExt cx="0" cy="0"/>
        </a:xfrm>
      </p:grpSpPr>
      <p:sp>
        <p:nvSpPr>
          <p:cNvPr id="150" name="Google Shape;150;p20"/>
          <p:cNvSpPr txBox="1"/>
          <p:nvPr>
            <p:ph type="title"/>
          </p:nvPr>
        </p:nvSpPr>
        <p:spPr>
          <a:xfrm>
            <a:off x="0" y="0"/>
            <a:ext cx="9144000" cy="5727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accent4"/>
                </a:solidFill>
              </a:rPr>
              <a:t>FIWARE </a:t>
            </a:r>
            <a:r>
              <a:rPr lang="en-GB">
                <a:solidFill>
                  <a:schemeClr val="lt1"/>
                </a:solidFill>
              </a:rPr>
              <a:t>and</a:t>
            </a:r>
            <a:r>
              <a:rPr lang="en-GB"/>
              <a:t> </a:t>
            </a:r>
            <a:r>
              <a:rPr lang="en-GB">
                <a:solidFill>
                  <a:schemeClr val="accent5"/>
                </a:solidFill>
              </a:rPr>
              <a:t>LF Edge</a:t>
            </a:r>
            <a:r>
              <a:rPr lang="en-GB"/>
              <a:t>  </a:t>
            </a:r>
            <a:r>
              <a:rPr lang="en-GB"/>
              <a:t> </a:t>
            </a:r>
            <a:r>
              <a:rPr lang="en-GB">
                <a:solidFill>
                  <a:schemeClr val="lt1"/>
                </a:solidFill>
              </a:rPr>
              <a:t>- Synergy with</a:t>
            </a:r>
            <a:r>
              <a:rPr lang="en-GB"/>
              <a:t> </a:t>
            </a:r>
            <a:r>
              <a:rPr lang="en-GB">
                <a:solidFill>
                  <a:schemeClr val="accent6"/>
                </a:solidFill>
              </a:rPr>
              <a:t>ACES</a:t>
            </a:r>
            <a:endParaRPr>
              <a:solidFill>
                <a:schemeClr val="accent6"/>
              </a:solidFill>
            </a:endParaRPr>
          </a:p>
        </p:txBody>
      </p:sp>
      <p:sp>
        <p:nvSpPr>
          <p:cNvPr id="151" name="Google Shape;151;p20"/>
          <p:cNvSpPr txBox="1"/>
          <p:nvPr/>
        </p:nvSpPr>
        <p:spPr>
          <a:xfrm>
            <a:off x="0" y="4172550"/>
            <a:ext cx="9144000" cy="900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GB" sz="1100">
                <a:solidFill>
                  <a:schemeClr val="accent6"/>
                </a:solidFill>
              </a:rPr>
              <a:t>ACES – Hardware Interoperability</a:t>
            </a:r>
            <a:endParaRPr b="1" sz="1100">
              <a:solidFill>
                <a:schemeClr val="accent6"/>
              </a:solidFill>
            </a:endParaRPr>
          </a:p>
          <a:p>
            <a:pPr indent="-298450" lvl="0" marL="457200" rtl="0" algn="l">
              <a:lnSpc>
                <a:spcPct val="115000"/>
              </a:lnSpc>
              <a:spcBef>
                <a:spcPts val="1200"/>
              </a:spcBef>
              <a:spcAft>
                <a:spcPts val="0"/>
              </a:spcAft>
              <a:buClr>
                <a:schemeClr val="lt1"/>
              </a:buClr>
              <a:buSzPts val="1100"/>
              <a:buChar char="●"/>
            </a:pPr>
            <a:r>
              <a:rPr lang="en-GB" sz="1100">
                <a:solidFill>
                  <a:schemeClr val="lt1"/>
                </a:solidFill>
              </a:rPr>
              <a:t>Standardized connectors and communications for drones, robo</a:t>
            </a:r>
            <a:r>
              <a:rPr lang="en-GB" sz="1100">
                <a:solidFill>
                  <a:schemeClr val="lt1"/>
                </a:solidFill>
              </a:rPr>
              <a:t>t</a:t>
            </a:r>
            <a:r>
              <a:rPr lang="en-GB" sz="1100">
                <a:solidFill>
                  <a:schemeClr val="lt1"/>
                </a:solidFill>
              </a:rPr>
              <a:t>s, sensors, and other IoT modules.</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Ensures plug-and-play compatibility across multiple manufacturers.</a:t>
            </a:r>
            <a:endParaRPr sz="1100">
              <a:solidFill>
                <a:schemeClr val="lt1"/>
              </a:solidFill>
            </a:endParaRPr>
          </a:p>
        </p:txBody>
      </p:sp>
      <p:sp>
        <p:nvSpPr>
          <p:cNvPr id="152" name="Google Shape;152;p20"/>
          <p:cNvSpPr txBox="1"/>
          <p:nvPr/>
        </p:nvSpPr>
        <p:spPr>
          <a:xfrm>
            <a:off x="432000" y="3237963"/>
            <a:ext cx="8280000" cy="900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GB" sz="1100">
                <a:solidFill>
                  <a:schemeClr val="accent5"/>
                </a:solidFill>
              </a:rPr>
              <a:t>LF Edge – Edge Runtime &amp; Orchestration</a:t>
            </a:r>
            <a:endParaRPr b="1" sz="1100">
              <a:solidFill>
                <a:schemeClr val="accent5"/>
              </a:solidFill>
            </a:endParaRPr>
          </a:p>
          <a:p>
            <a:pPr indent="-298450" lvl="0" marL="457200" rtl="0" algn="l">
              <a:lnSpc>
                <a:spcPct val="115000"/>
              </a:lnSpc>
              <a:spcBef>
                <a:spcPts val="1200"/>
              </a:spcBef>
              <a:spcAft>
                <a:spcPts val="0"/>
              </a:spcAft>
              <a:buClr>
                <a:schemeClr val="lt1"/>
              </a:buClr>
              <a:buSzPts val="1100"/>
              <a:buChar char="●"/>
            </a:pPr>
            <a:r>
              <a:rPr lang="en-GB" sz="1100">
                <a:solidFill>
                  <a:schemeClr val="lt1"/>
                </a:solidFill>
              </a:rPr>
              <a:t>Provides common services to manage heterogeneous devices at the edge.</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Buffers, secures, and translates ACES messages into software-ready form.</a:t>
            </a:r>
            <a:endParaRPr sz="1100">
              <a:solidFill>
                <a:schemeClr val="lt1"/>
              </a:solidFill>
            </a:endParaRPr>
          </a:p>
        </p:txBody>
      </p:sp>
      <p:sp>
        <p:nvSpPr>
          <p:cNvPr id="153" name="Google Shape;153;p20"/>
          <p:cNvSpPr txBox="1"/>
          <p:nvPr/>
        </p:nvSpPr>
        <p:spPr>
          <a:xfrm>
            <a:off x="972000" y="2303375"/>
            <a:ext cx="7200000" cy="900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GB" sz="1100">
                <a:solidFill>
                  <a:schemeClr val="accent4"/>
                </a:solidFill>
              </a:rPr>
              <a:t>FIWARE – Data &amp; Applications</a:t>
            </a:r>
            <a:endParaRPr b="1" sz="1100">
              <a:solidFill>
                <a:schemeClr val="accent4"/>
              </a:solidFill>
            </a:endParaRPr>
          </a:p>
          <a:p>
            <a:pPr indent="-298450" lvl="0" marL="457200" rtl="0" algn="l">
              <a:lnSpc>
                <a:spcPct val="115000"/>
              </a:lnSpc>
              <a:spcBef>
                <a:spcPts val="1200"/>
              </a:spcBef>
              <a:spcAft>
                <a:spcPts val="0"/>
              </a:spcAft>
              <a:buClr>
                <a:schemeClr val="lt1"/>
              </a:buClr>
              <a:buSzPts val="1100"/>
              <a:buChar char="●"/>
            </a:pPr>
            <a:r>
              <a:rPr lang="en-GB" sz="1100">
                <a:solidFill>
                  <a:schemeClr val="lt1"/>
                </a:solidFill>
              </a:rPr>
              <a:t>Offers standardized APIs (NGSI-LD) and Smart Data Models for context management.</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Provides a unified language for applications, analytics, and integration with cities, farms, and industries</a:t>
            </a:r>
            <a:endParaRPr sz="1100">
              <a:solidFill>
                <a:schemeClr val="lt1"/>
              </a:solidFill>
            </a:endParaRPr>
          </a:p>
        </p:txBody>
      </p:sp>
      <p:sp>
        <p:nvSpPr>
          <p:cNvPr id="154" name="Google Shape;154;p20"/>
          <p:cNvSpPr txBox="1"/>
          <p:nvPr/>
        </p:nvSpPr>
        <p:spPr>
          <a:xfrm>
            <a:off x="96900" y="718025"/>
            <a:ext cx="8913000" cy="12051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lt1"/>
                </a:solidFill>
              </a:rPr>
              <a:t>Illustrative Flow:</a:t>
            </a:r>
            <a:endParaRPr b="1" sz="1800">
              <a:solidFill>
                <a:schemeClr val="lt1"/>
              </a:solidFill>
            </a:endParaRPr>
          </a:p>
          <a:p>
            <a:pPr indent="0" lvl="0" marL="0" rtl="0" algn="l">
              <a:spcBef>
                <a:spcPts val="0"/>
              </a:spcBef>
              <a:spcAft>
                <a:spcPts val="0"/>
              </a:spcAft>
              <a:buNone/>
            </a:pPr>
            <a:r>
              <a:t/>
            </a:r>
            <a:endParaRPr sz="1500">
              <a:solidFill>
                <a:schemeClr val="lt1"/>
              </a:solidFill>
            </a:endParaRPr>
          </a:p>
          <a:p>
            <a:pPr indent="0" lvl="0" marL="0" rtl="0" algn="l">
              <a:spcBef>
                <a:spcPts val="0"/>
              </a:spcBef>
              <a:spcAft>
                <a:spcPts val="0"/>
              </a:spcAft>
              <a:buNone/>
            </a:pPr>
            <a:r>
              <a:rPr lang="en-GB" sz="1500">
                <a:solidFill>
                  <a:schemeClr val="lt1"/>
                </a:solidFill>
              </a:rPr>
              <a:t>Application issues a command (FIWARE) → </a:t>
            </a:r>
            <a:r>
              <a:rPr lang="en-GB" sz="1500">
                <a:solidFill>
                  <a:schemeClr val="lt1"/>
                </a:solidFill>
              </a:rPr>
              <a:t>LF Edge runtime translates and routes it → </a:t>
            </a:r>
            <a:endParaRPr sz="1500">
              <a:solidFill>
                <a:schemeClr val="lt1"/>
              </a:solidFill>
            </a:endParaRPr>
          </a:p>
          <a:p>
            <a:pPr indent="0" lvl="0" marL="0" rtl="0" algn="l">
              <a:spcBef>
                <a:spcPts val="0"/>
              </a:spcBef>
              <a:spcAft>
                <a:spcPts val="0"/>
              </a:spcAft>
              <a:buNone/>
            </a:pPr>
            <a:r>
              <a:rPr lang="en-GB" sz="1500">
                <a:solidFill>
                  <a:schemeClr val="lt1"/>
                </a:solidFill>
              </a:rPr>
              <a:t>ACES module executes → telemetry returns → LF Edge normalizes → FIWARE updates context model</a:t>
            </a:r>
            <a:endParaRPr sz="1800">
              <a:solidFill>
                <a:schemeClr val="lt1"/>
              </a:solidFill>
            </a:endParaRPr>
          </a:p>
        </p:txBody>
      </p:sp>
      <p:sp>
        <p:nvSpPr>
          <p:cNvPr id="155" name="Google Shape;155;p20"/>
          <p:cNvSpPr txBox="1"/>
          <p:nvPr/>
        </p:nvSpPr>
        <p:spPr>
          <a:xfrm>
            <a:off x="2933400" y="3047550"/>
            <a:ext cx="3240000" cy="1745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lt1"/>
                </a:solidFill>
              </a:rPr>
              <a:t>Together, these frameworks form a complete stack for IoT and robotics interoperability:</a:t>
            </a:r>
            <a:endParaRPr>
              <a:solidFill>
                <a:schemeClr val="lt1"/>
              </a:solidFill>
            </a:endParaRPr>
          </a:p>
          <a:p>
            <a:pPr indent="-317500" lvl="0" marL="457200" rtl="0" algn="l">
              <a:lnSpc>
                <a:spcPct val="115000"/>
              </a:lnSpc>
              <a:spcBef>
                <a:spcPts val="1200"/>
              </a:spcBef>
              <a:spcAft>
                <a:spcPts val="0"/>
              </a:spcAft>
              <a:buClr>
                <a:schemeClr val="lt1"/>
              </a:buClr>
              <a:buSzPts val="1400"/>
              <a:buChar char="●"/>
            </a:pPr>
            <a:r>
              <a:rPr lang="en-GB">
                <a:solidFill>
                  <a:schemeClr val="lt1"/>
                </a:solidFill>
              </a:rPr>
              <a:t> </a:t>
            </a:r>
            <a:r>
              <a:rPr b="1" lang="en-GB">
                <a:solidFill>
                  <a:schemeClr val="lt1"/>
                </a:solidFill>
              </a:rPr>
              <a:t>ACES (Do) </a:t>
            </a:r>
            <a:endParaRPr b="1">
              <a:solidFill>
                <a:schemeClr val="lt1"/>
              </a:solidFill>
            </a:endParaRPr>
          </a:p>
          <a:p>
            <a:pPr indent="-317500" lvl="0" marL="457200" rtl="0" algn="l">
              <a:lnSpc>
                <a:spcPct val="115000"/>
              </a:lnSpc>
              <a:spcBef>
                <a:spcPts val="0"/>
              </a:spcBef>
              <a:spcAft>
                <a:spcPts val="0"/>
              </a:spcAft>
              <a:buClr>
                <a:schemeClr val="lt1"/>
              </a:buClr>
              <a:buSzPts val="1400"/>
              <a:buChar char="●"/>
            </a:pPr>
            <a:r>
              <a:rPr b="1" lang="en-GB">
                <a:solidFill>
                  <a:schemeClr val="lt1"/>
                </a:solidFill>
              </a:rPr>
              <a:t> LF Edge (Run) </a:t>
            </a:r>
            <a:endParaRPr b="1">
              <a:solidFill>
                <a:schemeClr val="lt1"/>
              </a:solidFill>
            </a:endParaRPr>
          </a:p>
          <a:p>
            <a:pPr indent="-317500" lvl="0" marL="457200" rtl="0" algn="l">
              <a:lnSpc>
                <a:spcPct val="115000"/>
              </a:lnSpc>
              <a:spcBef>
                <a:spcPts val="0"/>
              </a:spcBef>
              <a:spcAft>
                <a:spcPts val="0"/>
              </a:spcAft>
              <a:buClr>
                <a:schemeClr val="lt1"/>
              </a:buClr>
              <a:buSzPts val="1400"/>
              <a:buChar char="●"/>
            </a:pPr>
            <a:r>
              <a:rPr b="1" lang="en-GB">
                <a:solidFill>
                  <a:schemeClr val="lt1"/>
                </a:solidFill>
              </a:rPr>
              <a:t>FIWARE (Know).</a:t>
            </a:r>
            <a:endParaRPr b="1">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200"/>
                                        <p:tgtEl>
                                          <p:spTgt spid="152"/>
                                        </p:tgtEl>
                                      </p:cBhvr>
                                    </p:animEffect>
                                    <p:set>
                                      <p:cBhvr>
                                        <p:cTn dur="1" fill="hold">
                                          <p:stCondLst>
                                            <p:cond delay="1200"/>
                                          </p:stCondLst>
                                        </p:cTn>
                                        <p:tgtEl>
                                          <p:spTgt spid="15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53"/>
                                        </p:tgtEl>
                                      </p:cBhvr>
                                    </p:animEffect>
                                    <p:set>
                                      <p:cBhvr>
                                        <p:cTn dur="1" fill="hold">
                                          <p:stCondLst>
                                            <p:cond delay="1000"/>
                                          </p:stCondLst>
                                        </p:cTn>
                                        <p:tgtEl>
                                          <p:spTgt spid="1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51"/>
                                        </p:tgtEl>
                                      </p:cBhvr>
                                    </p:animEffect>
                                    <p:set>
                                      <p:cBhvr>
                                        <p:cTn dur="1" fill="hold">
                                          <p:stCondLst>
                                            <p:cond delay="1000"/>
                                          </p:stCondLst>
                                        </p:cTn>
                                        <p:tgtEl>
                                          <p:spTgt spid="15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Model Comparison</a:t>
            </a:r>
            <a:endParaRPr/>
          </a:p>
        </p:txBody>
      </p:sp>
      <p:graphicFrame>
        <p:nvGraphicFramePr>
          <p:cNvPr id="161" name="Google Shape;161;p21"/>
          <p:cNvGraphicFramePr/>
          <p:nvPr/>
        </p:nvGraphicFramePr>
        <p:xfrm>
          <a:off x="510200" y="1002200"/>
          <a:ext cx="3000000" cy="3000000"/>
        </p:xfrm>
        <a:graphic>
          <a:graphicData uri="http://schemas.openxmlformats.org/drawingml/2006/table">
            <a:tbl>
              <a:tblPr>
                <a:noFill/>
                <a:tableStyleId>{C1AB3181-70D0-4E56-9AF5-58D00A85E7A4}</a:tableStyleId>
              </a:tblPr>
              <a:tblGrid>
                <a:gridCol w="1087100"/>
                <a:gridCol w="3875425"/>
                <a:gridCol w="3362325"/>
              </a:tblGrid>
              <a:tr h="190500">
                <a:tc>
                  <a:txBody>
                    <a:bodyPr/>
                    <a:lstStyle/>
                    <a:p>
                      <a:pPr indent="0" lvl="0" marL="0" rtl="0" algn="ctr">
                        <a:lnSpc>
                          <a:spcPct val="115000"/>
                        </a:lnSpc>
                        <a:spcBef>
                          <a:spcPts val="0"/>
                        </a:spcBef>
                        <a:spcAft>
                          <a:spcPts val="0"/>
                        </a:spcAft>
                        <a:buNone/>
                      </a:pPr>
                      <a:r>
                        <a:rPr b="1" lang="en-GB" sz="1100"/>
                        <a:t>Aspect</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solidFill>
                            <a:schemeClr val="lt1"/>
                          </a:solidFill>
                        </a:rPr>
                        <a:t>Modular Dynamics (Proprietary)</a:t>
                      </a:r>
                      <a:endParaRPr b="1" sz="1100">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GB" sz="1100"/>
                        <a:t>ACES Foundation (Open)</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GB" sz="1100"/>
                        <a:t>Ownership</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Company owns ACES IP, licenses it</a:t>
                      </a:r>
                      <a:endParaRPr>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GB"/>
                        <a:t>Foundation holds IP, royalty-free</a:t>
                      </a:r>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GB" sz="1100"/>
                        <a:t>Governance</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Board weighted by shareholding</a:t>
                      </a:r>
                      <a:endParaRPr>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GB"/>
                        <a:t>Member-based, consensus-driven</a:t>
                      </a:r>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GB" sz="1100"/>
                        <a:t>Monetization</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Direct: modules, services, licenses</a:t>
                      </a:r>
                      <a:endParaRPr>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GB"/>
                        <a:t>Indirect: partners sell ACES products/services</a:t>
                      </a:r>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GB" sz="1100"/>
                        <a:t>Adoption</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Slower, limited to licensees</a:t>
                      </a:r>
                      <a:endParaRPr>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GB"/>
                        <a:t>Faster, broad ecosystem</a:t>
                      </a:r>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GB" sz="1100"/>
                        <a:t>Investment</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Higher (factories if scaling)</a:t>
                      </a:r>
                      <a:endParaRPr>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GB"/>
                        <a:t>Lower, focus on product innovation</a:t>
                      </a:r>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GB" sz="1100"/>
                        <a:t>FIWARE</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Use freely, optional membership</a:t>
                      </a:r>
                      <a:endParaRPr>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GB"/>
                        <a:t>Formal partnership possible</a:t>
                      </a:r>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GB" sz="1100"/>
                        <a:t>LF Edge</a:t>
                      </a:r>
                      <a:endParaRPr b="1" sz="1100"/>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Runtime embedded in proprietary stack to manage ACES modules</a:t>
                      </a:r>
                      <a:endParaRPr>
                        <a:solidFill>
                          <a:schemeClr val="lt1"/>
                        </a:solidFill>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GB"/>
                        <a:t>Runtime used as open bridge between modules &amp; apps</a:t>
                      </a:r>
                      <a:endParaRPr/>
                    </a:p>
                  </a:txBody>
                  <a:tcPr marT="91425" marB="91425" marR="91425" marL="91425">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Partner benefits</a:t>
            </a:r>
            <a:endParaRPr/>
          </a:p>
        </p:txBody>
      </p:sp>
      <p:graphicFrame>
        <p:nvGraphicFramePr>
          <p:cNvPr id="167" name="Google Shape;167;p22"/>
          <p:cNvGraphicFramePr/>
          <p:nvPr/>
        </p:nvGraphicFramePr>
        <p:xfrm>
          <a:off x="38100" y="863975"/>
          <a:ext cx="3000000" cy="3000000"/>
        </p:xfrm>
        <a:graphic>
          <a:graphicData uri="http://schemas.openxmlformats.org/drawingml/2006/table">
            <a:tbl>
              <a:tblPr>
                <a:noFill/>
                <a:tableStyleId>{C1AB3181-70D0-4E56-9AF5-58D00A85E7A4}</a:tableStyleId>
              </a:tblPr>
              <a:tblGrid>
                <a:gridCol w="1257300"/>
                <a:gridCol w="3438525"/>
                <a:gridCol w="4371975"/>
              </a:tblGrid>
              <a:tr h="430100">
                <a:tc>
                  <a:txBody>
                    <a:bodyPr/>
                    <a:lstStyle/>
                    <a:p>
                      <a:pPr indent="0" lvl="0" marL="0" rtl="0" algn="ctr">
                        <a:lnSpc>
                          <a:spcPct val="115000"/>
                        </a:lnSpc>
                        <a:spcBef>
                          <a:spcPts val="0"/>
                        </a:spcBef>
                        <a:spcAft>
                          <a:spcPts val="0"/>
                        </a:spcAft>
                        <a:buNone/>
                      </a:pPr>
                      <a:r>
                        <a:rPr b="1" lang="en-GB" sz="1100"/>
                        <a:t>Partner</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t>Modular Dynamics (Proprietary)</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t>ACES Foundation (Open)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3475">
                <a:tc>
                  <a:txBody>
                    <a:bodyPr/>
                    <a:lstStyle/>
                    <a:p>
                      <a:pPr indent="0" lvl="0" marL="0" rtl="0" algn="l">
                        <a:spcBef>
                          <a:spcPts val="0"/>
                        </a:spcBef>
                        <a:spcAft>
                          <a:spcPts val="0"/>
                        </a:spcAft>
                        <a:buNone/>
                      </a:pPr>
                      <a:r>
                        <a:rPr b="1" lang="en-GB" sz="1100"/>
                        <a:t>Agrobots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rPr>
                        <a:t>Access to proprietary modules, lock-in advantage with farms.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rPr>
                        <a:t>Easier procurement and adoption.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3475">
                <a:tc>
                  <a:txBody>
                    <a:bodyPr/>
                    <a:lstStyle/>
                    <a:p>
                      <a:pPr indent="0" lvl="0" marL="0" rtl="0" algn="l">
                        <a:spcBef>
                          <a:spcPts val="0"/>
                        </a:spcBef>
                        <a:spcAft>
                          <a:spcPts val="0"/>
                        </a:spcAft>
                        <a:buNone/>
                      </a:pPr>
                      <a:r>
                        <a:rPr b="1" lang="en-GB" sz="1100"/>
                        <a:t>Dronak</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Direct revenue share, exclusive modules, tighter integration.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Wider adoption of drones through open interoperability; stronger appeal to cities/farms.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3475">
                <a:tc>
                  <a:txBody>
                    <a:bodyPr/>
                    <a:lstStyle/>
                    <a:p>
                      <a:pPr indent="0" lvl="0" marL="0" rtl="0" algn="l">
                        <a:spcBef>
                          <a:spcPts val="0"/>
                        </a:spcBef>
                        <a:spcAft>
                          <a:spcPts val="0"/>
                        </a:spcAft>
                        <a:buNone/>
                      </a:pPr>
                      <a:r>
                        <a:rPr b="1" lang="en-GB" sz="1100"/>
                        <a:t>Smart City Charge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Access to proprietary modules, lock-in advantage with municipalities.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Easier procurement and adoption (public sector prefers open standards); more projects.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3475">
                <a:tc>
                  <a:txBody>
                    <a:bodyPr/>
                    <a:lstStyle/>
                    <a:p>
                      <a:pPr indent="0" lvl="0" marL="0" rtl="0" algn="l">
                        <a:spcBef>
                          <a:spcPts val="0"/>
                        </a:spcBef>
                        <a:spcAft>
                          <a:spcPts val="0"/>
                        </a:spcAft>
                        <a:buNone/>
                      </a:pPr>
                      <a:r>
                        <a:rPr b="1" lang="en-GB" sz="1100"/>
                        <a:t>Sintropia</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Preferred integrator status, limited competition, tied to JV success.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Larger addressable market; more integration projects across industries.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3475">
                <a:tc>
                  <a:txBody>
                    <a:bodyPr/>
                    <a:lstStyle/>
                    <a:p>
                      <a:pPr indent="0" lvl="0" marL="0" rtl="0" algn="l">
                        <a:spcBef>
                          <a:spcPts val="0"/>
                        </a:spcBef>
                        <a:spcAft>
                          <a:spcPts val="0"/>
                        </a:spcAft>
                        <a:buNone/>
                      </a:pPr>
                      <a:r>
                        <a:rPr b="1" lang="en-GB" sz="1100"/>
                        <a:t>Smart Farm Robotix</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Bundling advantage: robots + ACES modules as closed solution.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a:t>Broader interoperability with other equipment; bigger market for ACES-compliant robots.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1" name="Shape 171"/>
        <p:cNvGrpSpPr/>
        <p:nvPr/>
      </p:nvGrpSpPr>
      <p:grpSpPr>
        <a:xfrm>
          <a:off x="0" y="0"/>
          <a:ext cx="0" cy="0"/>
          <a:chOff x="0" y="0"/>
          <a:chExt cx="0" cy="0"/>
        </a:xfrm>
      </p:grpSpPr>
      <p:sp>
        <p:nvSpPr>
          <p:cNvPr id="172" name="Google Shape;172;p2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b="1" lang="en-GB" sz="3600">
                <a:solidFill>
                  <a:schemeClr val="lt1"/>
                </a:solidFill>
              </a:rPr>
              <a:t>Next Steps for the Consortium</a:t>
            </a:r>
            <a:endParaRPr sz="3600">
              <a:solidFill>
                <a:schemeClr val="lt1"/>
              </a:solidFill>
            </a:endParaRPr>
          </a:p>
        </p:txBody>
      </p:sp>
      <p:sp>
        <p:nvSpPr>
          <p:cNvPr id="173" name="Google Shape;17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10832" lvl="0" marL="457200" rtl="0" algn="l">
              <a:spcBef>
                <a:spcPts val="0"/>
              </a:spcBef>
              <a:spcAft>
                <a:spcPts val="0"/>
              </a:spcAft>
              <a:buClr>
                <a:schemeClr val="lt1"/>
              </a:buClr>
              <a:buSzPct val="100000"/>
              <a:buChar char="●"/>
            </a:pPr>
            <a:r>
              <a:rPr lang="en-GB" sz="1400">
                <a:solidFill>
                  <a:schemeClr val="lt1"/>
                </a:solidFill>
              </a:rPr>
              <a:t>Confirm shared mission: </a:t>
            </a:r>
            <a:endParaRPr sz="1400">
              <a:solidFill>
                <a:schemeClr val="lt1"/>
              </a:solidFill>
            </a:endParaRPr>
          </a:p>
          <a:p>
            <a:pPr indent="0" lvl="0" marL="914400" rtl="0" algn="l">
              <a:spcBef>
                <a:spcPts val="1200"/>
              </a:spcBef>
              <a:spcAft>
                <a:spcPts val="0"/>
              </a:spcAft>
              <a:buNone/>
            </a:pPr>
            <a:r>
              <a:rPr lang="en-GB" sz="1600">
                <a:solidFill>
                  <a:schemeClr val="accent6"/>
                </a:solidFill>
              </a:rPr>
              <a:t>Create a universal standard for physical interoperability of modular drones, robots, and IoT devices.</a:t>
            </a:r>
            <a:br>
              <a:rPr lang="en-GB" sz="1400">
                <a:solidFill>
                  <a:schemeClr val="lt1"/>
                </a:solidFill>
              </a:rPr>
            </a:br>
            <a:endParaRPr sz="1400">
              <a:solidFill>
                <a:schemeClr val="lt1"/>
              </a:solidFill>
            </a:endParaRPr>
          </a:p>
          <a:p>
            <a:pPr indent="-310832" lvl="0" marL="457200" rtl="0" algn="l">
              <a:spcBef>
                <a:spcPts val="1200"/>
              </a:spcBef>
              <a:spcAft>
                <a:spcPts val="0"/>
              </a:spcAft>
              <a:buClr>
                <a:schemeClr val="lt1"/>
              </a:buClr>
              <a:buSzPct val="100000"/>
              <a:buChar char="●"/>
            </a:pPr>
            <a:r>
              <a:rPr lang="en-GB" sz="1400">
                <a:solidFill>
                  <a:schemeClr val="lt1"/>
                </a:solidFill>
              </a:rPr>
              <a:t>Decide on organizational model: </a:t>
            </a:r>
            <a:endParaRPr sz="1400">
              <a:solidFill>
                <a:schemeClr val="lt1"/>
              </a:solidFill>
            </a:endParaRPr>
          </a:p>
          <a:p>
            <a:pPr indent="-310832" lvl="1" marL="914400" rtl="0" algn="l">
              <a:spcBef>
                <a:spcPts val="0"/>
              </a:spcBef>
              <a:spcAft>
                <a:spcPts val="0"/>
              </a:spcAft>
              <a:buClr>
                <a:schemeClr val="accent5"/>
              </a:buClr>
              <a:buSzPct val="100000"/>
              <a:buChar char="○"/>
            </a:pPr>
            <a:r>
              <a:rPr b="1" lang="en-GB" sz="1400">
                <a:solidFill>
                  <a:schemeClr val="accent5"/>
                </a:solidFill>
              </a:rPr>
              <a:t>Modular Dynamics</a:t>
            </a:r>
            <a:r>
              <a:rPr lang="en-GB" sz="1400">
                <a:solidFill>
                  <a:schemeClr val="accent5"/>
                </a:solidFill>
              </a:rPr>
              <a:t> (proprietary) </a:t>
            </a:r>
            <a:endParaRPr>
              <a:solidFill>
                <a:schemeClr val="accent5"/>
              </a:solidFill>
            </a:endParaRPr>
          </a:p>
          <a:p>
            <a:pPr indent="-310832" lvl="1" marL="914400" rtl="0" algn="l">
              <a:spcBef>
                <a:spcPts val="0"/>
              </a:spcBef>
              <a:spcAft>
                <a:spcPts val="0"/>
              </a:spcAft>
              <a:buClr>
                <a:schemeClr val="accent4"/>
              </a:buClr>
              <a:buSzPct val="100000"/>
              <a:buChar char="○"/>
            </a:pPr>
            <a:r>
              <a:rPr b="1" lang="en-GB" sz="1400">
                <a:solidFill>
                  <a:schemeClr val="accent4"/>
                </a:solidFill>
              </a:rPr>
              <a:t>ACES Foundation</a:t>
            </a:r>
            <a:r>
              <a:rPr lang="en-GB" sz="1400">
                <a:solidFill>
                  <a:schemeClr val="accent4"/>
                </a:solidFill>
              </a:rPr>
              <a:t> (open)</a:t>
            </a:r>
            <a:br>
              <a:rPr lang="en-GB" sz="1400">
                <a:solidFill>
                  <a:schemeClr val="accent4"/>
                </a:solidFill>
              </a:rPr>
            </a:br>
            <a:endParaRPr sz="1400">
              <a:solidFill>
                <a:schemeClr val="accent4"/>
              </a:solidFill>
            </a:endParaRPr>
          </a:p>
          <a:p>
            <a:pPr indent="-310832" lvl="0" marL="457200" rtl="0" algn="l">
              <a:spcBef>
                <a:spcPts val="0"/>
              </a:spcBef>
              <a:spcAft>
                <a:spcPts val="0"/>
              </a:spcAft>
              <a:buClr>
                <a:schemeClr val="lt1"/>
              </a:buClr>
              <a:buSzPct val="100000"/>
              <a:buChar char="●"/>
            </a:pPr>
            <a:r>
              <a:rPr lang="en-GB" sz="1400">
                <a:solidFill>
                  <a:schemeClr val="lt1"/>
                </a:solidFill>
              </a:rPr>
              <a:t>Define role of </a:t>
            </a:r>
            <a:r>
              <a:rPr lang="en-GB" sz="1400">
                <a:solidFill>
                  <a:schemeClr val="accent5"/>
                </a:solidFill>
              </a:rPr>
              <a:t>FIWARE</a:t>
            </a:r>
            <a:r>
              <a:rPr lang="en-GB" sz="1400">
                <a:solidFill>
                  <a:schemeClr val="lt1"/>
                </a:solidFill>
              </a:rPr>
              <a:t> and </a:t>
            </a:r>
            <a:r>
              <a:rPr lang="en-GB" sz="1400">
                <a:solidFill>
                  <a:schemeClr val="accent6"/>
                </a:solidFill>
              </a:rPr>
              <a:t>LF Edge</a:t>
            </a:r>
            <a:r>
              <a:rPr lang="en-GB" sz="1400">
                <a:solidFill>
                  <a:schemeClr val="lt1"/>
                </a:solidFill>
              </a:rPr>
              <a:t> in our strategy</a:t>
            </a:r>
            <a:br>
              <a:rPr lang="en-GB" sz="1400">
                <a:solidFill>
                  <a:schemeClr val="lt1"/>
                </a:solidFill>
              </a:rPr>
            </a:br>
            <a:endParaRPr sz="1400">
              <a:solidFill>
                <a:schemeClr val="lt1"/>
              </a:solidFill>
            </a:endParaRPr>
          </a:p>
          <a:p>
            <a:pPr indent="-310832" lvl="0" marL="457200" rtl="0" algn="l">
              <a:spcBef>
                <a:spcPts val="0"/>
              </a:spcBef>
              <a:spcAft>
                <a:spcPts val="0"/>
              </a:spcAft>
              <a:buClr>
                <a:schemeClr val="lt1"/>
              </a:buClr>
              <a:buSzPct val="100000"/>
              <a:buChar char="●"/>
            </a:pPr>
            <a:r>
              <a:rPr lang="en-GB" sz="1400">
                <a:solidFill>
                  <a:schemeClr val="lt1"/>
                </a:solidFill>
              </a:rPr>
              <a:t>Outline governance, investment, and value-sharing principles</a:t>
            </a:r>
            <a:br>
              <a:rPr lang="en-GB" sz="1400">
                <a:solidFill>
                  <a:schemeClr val="lt1"/>
                </a:solidFill>
              </a:rPr>
            </a:br>
            <a:endParaRPr sz="1400">
              <a:solidFill>
                <a:schemeClr val="lt1"/>
              </a:solidFill>
            </a:endParaRPr>
          </a:p>
          <a:p>
            <a:pPr indent="-310832" lvl="0" marL="457200" rtl="0" algn="l">
              <a:spcBef>
                <a:spcPts val="0"/>
              </a:spcBef>
              <a:spcAft>
                <a:spcPts val="0"/>
              </a:spcAft>
              <a:buClr>
                <a:schemeClr val="lt1"/>
              </a:buClr>
              <a:buSzPct val="100000"/>
              <a:buChar char="●"/>
            </a:pPr>
            <a:r>
              <a:rPr lang="en-GB" sz="1400">
                <a:solidFill>
                  <a:schemeClr val="lt1"/>
                </a:solidFill>
              </a:rPr>
              <a:t>Prepare roadmap and MoU for consortium partners</a:t>
            </a:r>
            <a:endParaRPr sz="1400">
              <a:solidFill>
                <a:schemeClr val="lt1"/>
              </a:solidFill>
            </a:endParaRPr>
          </a:p>
          <a:p>
            <a:pPr indent="0" lvl="0" marL="0" rtl="0" algn="l">
              <a:spcBef>
                <a:spcPts val="1200"/>
              </a:spcBef>
              <a:spcAft>
                <a:spcPts val="1200"/>
              </a:spcAft>
              <a:buNone/>
            </a:pPr>
            <a:r>
              <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